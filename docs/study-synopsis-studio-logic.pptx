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1695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<Relationship Id="rId11" Type="http://schemas.openxmlformats.org/officeDocument/2006/relationships/slideMaster" Target="slideMasters/slideMaster1.xml"/><Relationship Id="rId12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02920" y="29260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00" b="1">
                <a:solidFill>
                  <a:srgbClr val="D71920"/>
                </a:solidFill>
                <a:latin typeface="Aptos"/>
              </a:rPr>
              <a:t>STUDY SYNOPSIS STUDIO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621792"/>
            <a:ext cx="72237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0">
                <a:solidFill>
                  <a:srgbClr val="242424"/>
                </a:solidFill>
                <a:latin typeface="Aptos"/>
              </a:rPr>
              <a:t>How Study Synopsis Studio turns choices into a synopsis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30352" y="112471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200" b="0">
                <a:solidFill>
                  <a:srgbClr val="475569"/>
                </a:solidFill>
                <a:latin typeface="Aptos"/>
              </a:rPr>
              <a:t>Logic map for primary intent, protocol guardrails, AI suggestions, alternatives, and evidence-impact feedback.</a:t>
            </a:r>
          </a:p>
        </p:txBody>
      </p:sp>
      <p:sp>
        <p:nvSpPr>
          <p:cNvPr id="7" name="Shape 7"/>
          <p:cNvSpPr/>
          <p:nvPr/>
        </p:nvSpPr>
        <p:spPr>
          <a:xfrm>
            <a:off x="502920" y="1874519"/>
            <a:ext cx="4937760" cy="1965960"/>
          </a:xfrm>
          <a:prstGeom prst="roundRect">
            <a:avLst/>
          </a:prstGeom>
          <a:solidFill>
            <a:srgbClr val="FFF7F7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822960" y="2176272"/>
            <a:ext cx="4297680" cy="7498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3000" b="1">
                <a:solidFill>
                  <a:srgbClr val="D71920"/>
                </a:solidFill>
                <a:latin typeface="Aptos"/>
              </a:rPr>
              <a:t>One combined first question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841248" y="2944368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800" b="1">
                <a:solidFill>
                  <a:srgbClr val="242424"/>
                </a:solidFill>
                <a:latin typeface="Aptos"/>
              </a:rPr>
              <a:t>What is this study mainly trying to achieve?</a:t>
            </a:r>
          </a:p>
        </p:txBody>
      </p:sp>
      <p:cxnSp>
        <p:nvCxnSpPr>
          <p:cNvPr id="10" name="Connector 10"/>
          <p:cNvCxnSpPr/>
          <p:nvPr/>
        </p:nvCxnSpPr>
        <p:spPr>
          <a:xfrm flipH="0" flipV="0">
            <a:off x="5623560" y="2816352"/>
            <a:ext cx="1051560" cy="0"/>
          </a:xfrm>
          <a:prstGeom prst="line">
            <a:avLst/>
          </a:prstGeom>
          <a:ln w="20320">
            <a:solidFill>
              <a:srgbClr val="8A1538"/>
            </a:solidFill>
            <a:headEnd type="triangle"/>
          </a:ln>
        </p:spPr>
      </p:cxnSp>
      <p:sp>
        <p:nvSpPr>
          <p:cNvPr id="11" name="Text 11"/>
          <p:cNvSpPr txBox="1"/>
          <p:nvPr/>
        </p:nvSpPr>
        <p:spPr>
          <a:xfrm>
            <a:off x="6903720" y="2011680"/>
            <a:ext cx="4023360" cy="1554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000" b="1">
                <a:solidFill>
                  <a:srgbClr val="242424"/>
                </a:solidFill>
                <a:latin typeface="Aptos"/>
              </a:rPr>
              <a:t>The app translates that answer into program intent, evidence destination, protocol discipline, AI suggestion constraints, and downstream drafting behavior.</a:t>
            </a:r>
          </a:p>
        </p:txBody>
      </p:sp>
      <p:sp>
        <p:nvSpPr>
          <p:cNvPr id="12" name="Shape 12"/>
          <p:cNvSpPr/>
          <p:nvPr/>
        </p:nvSpPr>
        <p:spPr>
          <a:xfrm>
            <a:off x="6903720" y="4069080"/>
            <a:ext cx="1645920" cy="347472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300" b="1">
                <a:solidFill>
                  <a:srgbClr val="D71920"/>
                </a:solidFill>
                <a:latin typeface="Aptos"/>
              </a:rPr>
              <a:t>Tab 1</a:t>
            </a:r>
          </a:p>
        </p:txBody>
      </p:sp>
      <p:sp>
        <p:nvSpPr>
          <p:cNvPr id="13" name="Shape 13"/>
          <p:cNvSpPr/>
          <p:nvPr/>
        </p:nvSpPr>
        <p:spPr>
          <a:xfrm>
            <a:off x="8732520" y="4069080"/>
            <a:ext cx="1645920" cy="347472"/>
          </a:xfrm>
          <a:prstGeom prst="roundRect">
            <a:avLst/>
          </a:prstGeom>
          <a:solidFill>
            <a:srgbClr val="E7F5FF"/>
          </a:solidFill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300" b="1">
                <a:solidFill>
                  <a:srgbClr val="1864AB"/>
                </a:solidFill>
                <a:latin typeface="Aptos"/>
              </a:rPr>
              <a:t>AI guardrails</a:t>
            </a:r>
          </a:p>
        </p:txBody>
      </p:sp>
      <p:sp>
        <p:nvSpPr>
          <p:cNvPr id="14" name="Shape 14"/>
          <p:cNvSpPr/>
          <p:nvPr/>
        </p:nvSpPr>
        <p:spPr>
          <a:xfrm>
            <a:off x="10561320" y="4069080"/>
            <a:ext cx="1097280" cy="34747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00" b="1">
                <a:solidFill>
                  <a:srgbClr val="242424"/>
                </a:solidFill>
                <a:latin typeface="Aptos"/>
              </a:rPr>
              <a:t>Export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02920" y="29260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00" b="1">
                <a:solidFill>
                  <a:srgbClr val="D71920"/>
                </a:solidFill>
                <a:latin typeface="Aptos"/>
              </a:rPr>
              <a:t>STUDY SYNOPSIS STUDIO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621792"/>
            <a:ext cx="72237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0">
                <a:solidFill>
                  <a:srgbClr val="242424"/>
                </a:solidFill>
                <a:latin typeface="Aptos"/>
              </a:rPr>
              <a:t>The workflow is intentionally staged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30352" y="112471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200" b="0">
                <a:solidFill>
                  <a:srgbClr val="475569"/>
                </a:solidFill>
                <a:latin typeface="Aptos"/>
              </a:rPr>
              <a:t>Each downstream step consumes the current Tab 1 concept and warns when older generated content is stale.</a:t>
            </a:r>
          </a:p>
        </p:txBody>
      </p:sp>
      <p:sp>
        <p:nvSpPr>
          <p:cNvPr id="7" name="Shape 7"/>
          <p:cNvSpPr/>
          <p:nvPr/>
        </p:nvSpPr>
        <p:spPr>
          <a:xfrm>
            <a:off x="594360" y="1874519"/>
            <a:ext cx="1691640" cy="2240280"/>
          </a:xfrm>
          <a:prstGeom prst="roundRect">
            <a:avLst/>
          </a:prstGeom>
          <a:solidFill>
            <a:srgbClr val="FDECEC"/>
          </a:solidFill>
          <a:ln w="15240">
            <a:solidFill>
              <a:srgbClr val="D71920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740664" y="2103120"/>
            <a:ext cx="139903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400" b="1">
                <a:solidFill>
                  <a:srgbClr val="D71920"/>
                </a:solidFill>
                <a:latin typeface="Aptos"/>
              </a:rPr>
              <a:t>Study design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740664" y="2651760"/>
            <a:ext cx="1399032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000" b="0">
                <a:solidFill>
                  <a:srgbClr val="475569"/>
                </a:solidFill>
                <a:latin typeface="Aptos"/>
              </a:rPr>
              <a:t>Intent, disease, intervention, comparator, objectives, endpoints</a:t>
            </a:r>
          </a:p>
        </p:txBody>
      </p:sp>
      <p:cxnSp>
        <p:nvCxnSpPr>
          <p:cNvPr id="10" name="Connector 10"/>
          <p:cNvCxnSpPr/>
          <p:nvPr/>
        </p:nvCxnSpPr>
        <p:spPr>
          <a:xfrm flipH="0" flipV="0">
            <a:off x="2313432" y="2990087"/>
            <a:ext cx="164592" cy="0"/>
          </a:xfrm>
          <a:prstGeom prst="line">
            <a:avLst/>
          </a:prstGeom>
          <a:ln w="15240">
            <a:solidFill>
              <a:srgbClr val="8A1538"/>
            </a:solidFill>
            <a:headEnd type="triangle"/>
          </a:ln>
        </p:spPr>
      </p:cxnSp>
      <p:sp>
        <p:nvSpPr>
          <p:cNvPr id="11" name="Shape 11"/>
          <p:cNvSpPr/>
          <p:nvPr/>
        </p:nvSpPr>
        <p:spPr>
          <a:xfrm>
            <a:off x="2487168" y="1874519"/>
            <a:ext cx="1691640" cy="2240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2633472" y="2103120"/>
            <a:ext cx="139903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400" b="1">
                <a:solidFill>
                  <a:srgbClr val="242424"/>
                </a:solidFill>
                <a:latin typeface="Aptos"/>
              </a:rPr>
              <a:t>Optional schema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2633472" y="2651760"/>
            <a:ext cx="1399032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000" b="0">
                <a:solidFill>
                  <a:srgbClr val="475569"/>
                </a:solidFill>
                <a:latin typeface="Aptos"/>
              </a:rPr>
              <a:t>One-slide visual logic</a:t>
            </a:r>
          </a:p>
        </p:txBody>
      </p:sp>
      <p:cxnSp>
        <p:nvCxnSpPr>
          <p:cNvPr id="14" name="Connector 14"/>
          <p:cNvCxnSpPr/>
          <p:nvPr/>
        </p:nvCxnSpPr>
        <p:spPr>
          <a:xfrm flipH="0" flipV="0">
            <a:off x="4206240" y="2990087"/>
            <a:ext cx="164592" cy="0"/>
          </a:xfrm>
          <a:prstGeom prst="line">
            <a:avLst/>
          </a:prstGeom>
          <a:ln w="15240">
            <a:solidFill>
              <a:srgbClr val="8A1538"/>
            </a:solidFill>
            <a:headEnd type="triangle"/>
          </a:ln>
        </p:spPr>
      </p:cxnSp>
      <p:sp>
        <p:nvSpPr>
          <p:cNvPr id="15" name="Shape 15"/>
          <p:cNvSpPr/>
          <p:nvPr/>
        </p:nvSpPr>
        <p:spPr>
          <a:xfrm>
            <a:off x="4379976" y="1874519"/>
            <a:ext cx="1691640" cy="2240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4526280" y="2103120"/>
            <a:ext cx="139903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400" b="1">
                <a:solidFill>
                  <a:srgbClr val="242424"/>
                </a:solidFill>
                <a:latin typeface="Aptos"/>
              </a:rPr>
              <a:t>PICO &amp; stats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4526280" y="2651760"/>
            <a:ext cx="1399032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000" b="0">
                <a:solidFill>
                  <a:srgbClr val="475569"/>
                </a:solidFill>
                <a:latin typeface="Aptos"/>
              </a:rPr>
              <a:t>Structured PICO + assumptions</a:t>
            </a:r>
          </a:p>
        </p:txBody>
      </p:sp>
      <p:cxnSp>
        <p:nvCxnSpPr>
          <p:cNvPr id="18" name="Connector 18"/>
          <p:cNvCxnSpPr/>
          <p:nvPr/>
        </p:nvCxnSpPr>
        <p:spPr>
          <a:xfrm flipH="0" flipV="0">
            <a:off x="6099048" y="2990087"/>
            <a:ext cx="164592" cy="0"/>
          </a:xfrm>
          <a:prstGeom prst="line">
            <a:avLst/>
          </a:prstGeom>
          <a:ln w="15240">
            <a:solidFill>
              <a:srgbClr val="8A1538"/>
            </a:solidFill>
            <a:headEnd type="triangle"/>
          </a:ln>
        </p:spPr>
      </p:cxnSp>
      <p:sp>
        <p:nvSpPr>
          <p:cNvPr id="19" name="Shape 19"/>
          <p:cNvSpPr/>
          <p:nvPr/>
        </p:nvSpPr>
        <p:spPr>
          <a:xfrm>
            <a:off x="6272784" y="1874519"/>
            <a:ext cx="1691640" cy="2240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6419088" y="2103120"/>
            <a:ext cx="139903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400" b="1">
                <a:solidFill>
                  <a:srgbClr val="242424"/>
                </a:solidFill>
                <a:latin typeface="Aptos"/>
              </a:rPr>
              <a:t>Optional literature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6419088" y="2651760"/>
            <a:ext cx="1399032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000" b="0">
                <a:solidFill>
                  <a:srgbClr val="475569"/>
                </a:solidFill>
                <a:latin typeface="Aptos"/>
              </a:rPr>
              <a:t>Background evidence plan</a:t>
            </a:r>
          </a:p>
        </p:txBody>
      </p:sp>
      <p:cxnSp>
        <p:nvCxnSpPr>
          <p:cNvPr id="22" name="Connector 22"/>
          <p:cNvCxnSpPr/>
          <p:nvPr/>
        </p:nvCxnSpPr>
        <p:spPr>
          <a:xfrm flipH="0" flipV="0">
            <a:off x="7991856" y="2990087"/>
            <a:ext cx="164592" cy="0"/>
          </a:xfrm>
          <a:prstGeom prst="line">
            <a:avLst/>
          </a:prstGeom>
          <a:ln w="15240">
            <a:solidFill>
              <a:srgbClr val="8A1538"/>
            </a:solidFill>
            <a:headEnd type="triangle"/>
          </a:ln>
        </p:spPr>
      </p:cxnSp>
      <p:sp>
        <p:nvSpPr>
          <p:cNvPr id="23" name="Shape 23"/>
          <p:cNvSpPr/>
          <p:nvPr/>
        </p:nvSpPr>
        <p:spPr>
          <a:xfrm>
            <a:off x="8165592" y="1874519"/>
            <a:ext cx="1691640" cy="2240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24" name="Text 24"/>
          <p:cNvSpPr txBox="1"/>
          <p:nvPr/>
        </p:nvSpPr>
        <p:spPr>
          <a:xfrm>
            <a:off x="8311896" y="2103120"/>
            <a:ext cx="139903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400" b="1">
                <a:solidFill>
                  <a:srgbClr val="242424"/>
                </a:solidFill>
                <a:latin typeface="Aptos"/>
              </a:rPr>
              <a:t>Optional SoA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8311896" y="2651760"/>
            <a:ext cx="1399032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000" b="0">
                <a:solidFill>
                  <a:srgbClr val="475569"/>
                </a:solidFill>
                <a:latin typeface="Aptos"/>
              </a:rPr>
              <a:t>Visit/assessment table</a:t>
            </a:r>
          </a:p>
        </p:txBody>
      </p:sp>
      <p:cxnSp>
        <p:nvCxnSpPr>
          <p:cNvPr id="26" name="Connector 26"/>
          <p:cNvCxnSpPr/>
          <p:nvPr/>
        </p:nvCxnSpPr>
        <p:spPr>
          <a:xfrm flipH="0" flipV="0">
            <a:off x="9884664" y="2990087"/>
            <a:ext cx="164592" cy="0"/>
          </a:xfrm>
          <a:prstGeom prst="line">
            <a:avLst/>
          </a:prstGeom>
          <a:ln w="15240">
            <a:solidFill>
              <a:srgbClr val="8A1538"/>
            </a:solidFill>
            <a:headEnd type="triangle"/>
          </a:ln>
        </p:spPr>
      </p:cxnSp>
      <p:sp>
        <p:nvSpPr>
          <p:cNvPr id="27" name="Shape 27"/>
          <p:cNvSpPr/>
          <p:nvPr/>
        </p:nvSpPr>
        <p:spPr>
          <a:xfrm>
            <a:off x="10058400" y="1874519"/>
            <a:ext cx="1691640" cy="2240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28" name="Text 28"/>
          <p:cNvSpPr txBox="1"/>
          <p:nvPr/>
        </p:nvSpPr>
        <p:spPr>
          <a:xfrm>
            <a:off x="10204704" y="2103120"/>
            <a:ext cx="139903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400" b="1">
                <a:solidFill>
                  <a:srgbClr val="242424"/>
                </a:solidFill>
                <a:latin typeface="Aptos"/>
              </a:rPr>
              <a:t>Generate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10204704" y="2651760"/>
            <a:ext cx="1399032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000" b="0">
                <a:solidFill>
                  <a:srgbClr val="475569"/>
                </a:solidFill>
                <a:latin typeface="Aptos"/>
              </a:rPr>
              <a:t>Sections + Word export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685800" y="521208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800" b="1">
                <a:solidFill>
                  <a:srgbClr val="8A1538"/>
                </a:solidFill>
                <a:latin typeface="Aptos"/>
              </a:rPr>
              <a:t>Principle: AI helps complete or challenge the concept, but the user selects what becomes part of the working study.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02920" y="29260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00" b="1">
                <a:solidFill>
                  <a:srgbClr val="D71920"/>
                </a:solidFill>
                <a:latin typeface="Aptos"/>
              </a:rPr>
              <a:t>STUDY SYNOPSIS STUDIO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621792"/>
            <a:ext cx="72237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0">
                <a:solidFill>
                  <a:srgbClr val="242424"/>
                </a:solidFill>
                <a:latin typeface="Aptos"/>
              </a:rPr>
              <a:t>Primary intent drives the evidence destination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30352" y="112471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200" b="0">
                <a:solidFill>
                  <a:srgbClr val="475569"/>
                </a:solidFill>
                <a:latin typeface="Aptos"/>
              </a:rPr>
              <a:t>The user answers one plain-language question; the app maps it into strategy and evidence-use logic.</a:t>
            </a:r>
          </a:p>
        </p:txBody>
      </p:sp>
      <p:sp>
        <p:nvSpPr>
          <p:cNvPr id="7" name="Shape 7"/>
          <p:cNvSpPr/>
          <p:nvPr/>
        </p:nvSpPr>
        <p:spPr>
          <a:xfrm>
            <a:off x="594360" y="1691640"/>
            <a:ext cx="2743200" cy="708660"/>
          </a:xfrm>
          <a:prstGeom prst="rect">
            <a:avLst/>
          </a:prstGeom>
          <a:solidFill>
            <a:srgbClr val="FDECEC"/>
          </a:solidFill>
          <a:ln w="15240">
            <a:solidFill>
              <a:srgbClr val="E5E7EB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640080" y="1728216"/>
            <a:ext cx="2651760" cy="6355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D71920"/>
                </a:solidFill>
                <a:latin typeface="Aptos"/>
              </a:rPr>
              <a:t>Primary study aim</a:t>
            </a:r>
          </a:p>
        </p:txBody>
      </p:sp>
      <p:sp>
        <p:nvSpPr>
          <p:cNvPr id="9" name="Shape 9"/>
          <p:cNvSpPr/>
          <p:nvPr/>
        </p:nvSpPr>
        <p:spPr>
          <a:xfrm>
            <a:off x="3337560" y="1691640"/>
            <a:ext cx="2743200" cy="708660"/>
          </a:xfrm>
          <a:prstGeom prst="rect">
            <a:avLst/>
          </a:prstGeom>
          <a:solidFill>
            <a:srgbClr val="FDECEC"/>
          </a:solidFill>
          <a:ln w="15240">
            <a:solidFill>
              <a:srgbClr val="E5E7EB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3383279" y="1728216"/>
            <a:ext cx="2651760" cy="6355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D71920"/>
                </a:solidFill>
                <a:latin typeface="Aptos"/>
              </a:rPr>
              <a:t>Program goal</a:t>
            </a:r>
          </a:p>
        </p:txBody>
      </p:sp>
      <p:sp>
        <p:nvSpPr>
          <p:cNvPr id="11" name="Shape 11"/>
          <p:cNvSpPr/>
          <p:nvPr/>
        </p:nvSpPr>
        <p:spPr>
          <a:xfrm>
            <a:off x="6080760" y="1691640"/>
            <a:ext cx="2743200" cy="708660"/>
          </a:xfrm>
          <a:prstGeom prst="rect">
            <a:avLst/>
          </a:prstGeom>
          <a:solidFill>
            <a:srgbClr val="FDECEC"/>
          </a:solidFill>
          <a:ln w="15240">
            <a:solidFill>
              <a:srgbClr val="E5E7EB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6126480" y="1728216"/>
            <a:ext cx="2651760" cy="6355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D71920"/>
                </a:solidFill>
                <a:latin typeface="Aptos"/>
              </a:rPr>
              <a:t>Evidence destination</a:t>
            </a:r>
          </a:p>
        </p:txBody>
      </p:sp>
      <p:sp>
        <p:nvSpPr>
          <p:cNvPr id="13" name="Shape 13"/>
          <p:cNvSpPr/>
          <p:nvPr/>
        </p:nvSpPr>
        <p:spPr>
          <a:xfrm>
            <a:off x="8823960" y="1691640"/>
            <a:ext cx="2743200" cy="708660"/>
          </a:xfrm>
          <a:prstGeom prst="rect">
            <a:avLst/>
          </a:prstGeom>
          <a:solidFill>
            <a:srgbClr val="FDECEC"/>
          </a:solidFill>
          <a:ln w="15240">
            <a:solidFill>
              <a:srgbClr val="E5E7EB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8869680" y="1728216"/>
            <a:ext cx="2651760" cy="6355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D71920"/>
                </a:solidFill>
                <a:latin typeface="Aptos"/>
              </a:rPr>
              <a:t>Design implication</a:t>
            </a:r>
          </a:p>
        </p:txBody>
      </p:sp>
      <p:sp>
        <p:nvSpPr>
          <p:cNvPr id="15" name="Shape 15"/>
          <p:cNvSpPr/>
          <p:nvPr/>
        </p:nvSpPr>
        <p:spPr>
          <a:xfrm>
            <a:off x="594360" y="2400300"/>
            <a:ext cx="2743200" cy="70866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640080" y="2436876"/>
            <a:ext cx="2651760" cy="6355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242424"/>
                </a:solidFill>
                <a:latin typeface="Aptos"/>
              </a:rPr>
              <a:t>Support label change</a:t>
            </a:r>
          </a:p>
        </p:txBody>
      </p:sp>
      <p:sp>
        <p:nvSpPr>
          <p:cNvPr id="17" name="Shape 17"/>
          <p:cNvSpPr/>
          <p:nvPr/>
        </p:nvSpPr>
        <p:spPr>
          <a:xfrm>
            <a:off x="3337560" y="2400300"/>
            <a:ext cx="2743200" cy="70866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3383279" y="2436876"/>
            <a:ext cx="2651760" cy="6355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Label expansion/refinement</a:t>
            </a:r>
          </a:p>
        </p:txBody>
      </p:sp>
      <p:sp>
        <p:nvSpPr>
          <p:cNvPr id="19" name="Shape 19"/>
          <p:cNvSpPr/>
          <p:nvPr/>
        </p:nvSpPr>
        <p:spPr>
          <a:xfrm>
            <a:off x="6080760" y="2400300"/>
            <a:ext cx="2743200" cy="70866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6126480" y="2436876"/>
            <a:ext cx="2651760" cy="6355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Label support</a:t>
            </a:r>
          </a:p>
        </p:txBody>
      </p:sp>
      <p:sp>
        <p:nvSpPr>
          <p:cNvPr id="21" name="Shape 21"/>
          <p:cNvSpPr/>
          <p:nvPr/>
        </p:nvSpPr>
        <p:spPr>
          <a:xfrm>
            <a:off x="8823960" y="2400300"/>
            <a:ext cx="2743200" cy="70866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8869680" y="2436876"/>
            <a:ext cx="2651760" cy="6355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Comparator and endpoint rigor must be high</a:t>
            </a:r>
          </a:p>
        </p:txBody>
      </p:sp>
      <p:sp>
        <p:nvSpPr>
          <p:cNvPr id="23" name="Shape 23"/>
          <p:cNvSpPr/>
          <p:nvPr/>
        </p:nvSpPr>
        <p:spPr>
          <a:xfrm>
            <a:off x="594360" y="3108960"/>
            <a:ext cx="2743200" cy="70866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24" name="Text 24"/>
          <p:cNvSpPr txBox="1"/>
          <p:nvPr/>
        </p:nvSpPr>
        <p:spPr>
          <a:xfrm>
            <a:off x="640080" y="3145536"/>
            <a:ext cx="2651760" cy="6355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242424"/>
                </a:solidFill>
                <a:latin typeface="Aptos"/>
              </a:rPr>
              <a:t>Support HTA/access</a:t>
            </a:r>
          </a:p>
        </p:txBody>
      </p:sp>
      <p:sp>
        <p:nvSpPr>
          <p:cNvPr id="25" name="Shape 25"/>
          <p:cNvSpPr/>
          <p:nvPr/>
        </p:nvSpPr>
        <p:spPr>
          <a:xfrm>
            <a:off x="3337560" y="3108960"/>
            <a:ext cx="2743200" cy="70866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26" name="Text 26"/>
          <p:cNvSpPr txBox="1"/>
          <p:nvPr/>
        </p:nvSpPr>
        <p:spPr>
          <a:xfrm>
            <a:off x="3383279" y="3145536"/>
            <a:ext cx="2651760" cy="6355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Market access / HTA</a:t>
            </a:r>
          </a:p>
        </p:txBody>
      </p:sp>
      <p:sp>
        <p:nvSpPr>
          <p:cNvPr id="27" name="Shape 27"/>
          <p:cNvSpPr/>
          <p:nvPr/>
        </p:nvSpPr>
        <p:spPr>
          <a:xfrm>
            <a:off x="6080760" y="3108960"/>
            <a:ext cx="2743200" cy="70866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28" name="Text 28"/>
          <p:cNvSpPr txBox="1"/>
          <p:nvPr/>
        </p:nvSpPr>
        <p:spPr>
          <a:xfrm>
            <a:off x="6126480" y="3145536"/>
            <a:ext cx="2651760" cy="6355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HTA / access</a:t>
            </a:r>
          </a:p>
        </p:txBody>
      </p:sp>
      <p:sp>
        <p:nvSpPr>
          <p:cNvPr id="29" name="Shape 29"/>
          <p:cNvSpPr/>
          <p:nvPr/>
        </p:nvSpPr>
        <p:spPr>
          <a:xfrm>
            <a:off x="8823960" y="3108960"/>
            <a:ext cx="2743200" cy="70866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30" name="Text 30"/>
          <p:cNvSpPr txBox="1"/>
          <p:nvPr/>
        </p:nvSpPr>
        <p:spPr>
          <a:xfrm>
            <a:off x="8869680" y="3145536"/>
            <a:ext cx="2651760" cy="6355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Comparative, patient-relevant, utilization-aware</a:t>
            </a:r>
          </a:p>
        </p:txBody>
      </p:sp>
      <p:sp>
        <p:nvSpPr>
          <p:cNvPr id="31" name="Shape 31"/>
          <p:cNvSpPr/>
          <p:nvPr/>
        </p:nvSpPr>
        <p:spPr>
          <a:xfrm>
            <a:off x="594360" y="3817620"/>
            <a:ext cx="2743200" cy="70866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32" name="Text 32"/>
          <p:cNvSpPr txBox="1"/>
          <p:nvPr/>
        </p:nvSpPr>
        <p:spPr>
          <a:xfrm>
            <a:off x="640080" y="3854196"/>
            <a:ext cx="2651760" cy="6355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242424"/>
                </a:solidFill>
                <a:latin typeface="Aptos"/>
              </a:rPr>
              <a:t>Inform practice/guidelines</a:t>
            </a:r>
          </a:p>
        </p:txBody>
      </p:sp>
      <p:sp>
        <p:nvSpPr>
          <p:cNvPr id="33" name="Shape 33"/>
          <p:cNvSpPr/>
          <p:nvPr/>
        </p:nvSpPr>
        <p:spPr>
          <a:xfrm>
            <a:off x="3337560" y="3817620"/>
            <a:ext cx="2743200" cy="70866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34" name="Text 34"/>
          <p:cNvSpPr txBox="1"/>
          <p:nvPr/>
        </p:nvSpPr>
        <p:spPr>
          <a:xfrm>
            <a:off x="3383279" y="3854196"/>
            <a:ext cx="2651760" cy="6355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Inform clinical practice</a:t>
            </a:r>
          </a:p>
        </p:txBody>
      </p:sp>
      <p:sp>
        <p:nvSpPr>
          <p:cNvPr id="35" name="Shape 35"/>
          <p:cNvSpPr/>
          <p:nvPr/>
        </p:nvSpPr>
        <p:spPr>
          <a:xfrm>
            <a:off x="6080760" y="3817620"/>
            <a:ext cx="2743200" cy="70866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36" name="Text 36"/>
          <p:cNvSpPr txBox="1"/>
          <p:nvPr/>
        </p:nvSpPr>
        <p:spPr>
          <a:xfrm>
            <a:off x="6126480" y="3854196"/>
            <a:ext cx="2651760" cy="6355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Guideline / practice</a:t>
            </a:r>
          </a:p>
        </p:txBody>
      </p:sp>
      <p:sp>
        <p:nvSpPr>
          <p:cNvPr id="37" name="Shape 37"/>
          <p:cNvSpPr/>
          <p:nvPr/>
        </p:nvSpPr>
        <p:spPr>
          <a:xfrm>
            <a:off x="8823960" y="3817620"/>
            <a:ext cx="2743200" cy="70866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38" name="Text 38"/>
          <p:cNvSpPr txBox="1"/>
          <p:nvPr/>
        </p:nvSpPr>
        <p:spPr>
          <a:xfrm>
            <a:off x="8869680" y="3854196"/>
            <a:ext cx="2651760" cy="6355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Pragmatic, clinically interpretable, not bloated</a:t>
            </a:r>
          </a:p>
        </p:txBody>
      </p:sp>
      <p:sp>
        <p:nvSpPr>
          <p:cNvPr id="39" name="Shape 39"/>
          <p:cNvSpPr/>
          <p:nvPr/>
        </p:nvSpPr>
        <p:spPr>
          <a:xfrm>
            <a:off x="594360" y="4526280"/>
            <a:ext cx="2743200" cy="70866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40" name="Text 40"/>
          <p:cNvSpPr txBox="1"/>
          <p:nvPr/>
        </p:nvSpPr>
        <p:spPr>
          <a:xfrm>
            <a:off x="640080" y="4562856"/>
            <a:ext cx="2651760" cy="6355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242424"/>
                </a:solidFill>
                <a:latin typeface="Aptos"/>
              </a:rPr>
              <a:t>Publication</a:t>
            </a:r>
          </a:p>
        </p:txBody>
      </p:sp>
      <p:sp>
        <p:nvSpPr>
          <p:cNvPr id="41" name="Shape 41"/>
          <p:cNvSpPr/>
          <p:nvPr/>
        </p:nvSpPr>
        <p:spPr>
          <a:xfrm>
            <a:off x="3337560" y="4526280"/>
            <a:ext cx="2743200" cy="70866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3383279" y="4562856"/>
            <a:ext cx="2651760" cy="6355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Publication strategy</a:t>
            </a:r>
          </a:p>
        </p:txBody>
      </p:sp>
      <p:sp>
        <p:nvSpPr>
          <p:cNvPr id="43" name="Shape 43"/>
          <p:cNvSpPr/>
          <p:nvPr/>
        </p:nvSpPr>
        <p:spPr>
          <a:xfrm>
            <a:off x="6080760" y="4526280"/>
            <a:ext cx="2743200" cy="70866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44" name="Text 44"/>
          <p:cNvSpPr txBox="1"/>
          <p:nvPr/>
        </p:nvSpPr>
        <p:spPr>
          <a:xfrm>
            <a:off x="6126480" y="4562856"/>
            <a:ext cx="2651760" cy="6355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Scientific publication</a:t>
            </a:r>
          </a:p>
        </p:txBody>
      </p:sp>
      <p:sp>
        <p:nvSpPr>
          <p:cNvPr id="45" name="Shape 45"/>
          <p:cNvSpPr/>
          <p:nvPr/>
        </p:nvSpPr>
        <p:spPr>
          <a:xfrm>
            <a:off x="8823960" y="4526280"/>
            <a:ext cx="2743200" cy="70866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46" name="Text 46"/>
          <p:cNvSpPr txBox="1"/>
          <p:nvPr/>
        </p:nvSpPr>
        <p:spPr>
          <a:xfrm>
            <a:off x="8869680" y="4562856"/>
            <a:ext cx="2651760" cy="6355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Focused scientific story</a:t>
            </a:r>
          </a:p>
        </p:txBody>
      </p:sp>
      <p:sp>
        <p:nvSpPr>
          <p:cNvPr id="47" name="Shape 47"/>
          <p:cNvSpPr/>
          <p:nvPr/>
        </p:nvSpPr>
        <p:spPr>
          <a:xfrm>
            <a:off x="594360" y="5234940"/>
            <a:ext cx="2743200" cy="70866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48" name="Text 48"/>
          <p:cNvSpPr txBox="1"/>
          <p:nvPr/>
        </p:nvSpPr>
        <p:spPr>
          <a:xfrm>
            <a:off x="640080" y="5271516"/>
            <a:ext cx="2651760" cy="6355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242424"/>
                </a:solidFill>
                <a:latin typeface="Aptos"/>
              </a:rPr>
              <a:t>Safety/risk</a:t>
            </a:r>
          </a:p>
        </p:txBody>
      </p:sp>
      <p:sp>
        <p:nvSpPr>
          <p:cNvPr id="49" name="Shape 49"/>
          <p:cNvSpPr/>
          <p:nvPr/>
        </p:nvSpPr>
        <p:spPr>
          <a:xfrm>
            <a:off x="3337560" y="5234940"/>
            <a:ext cx="2743200" cy="70866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50" name="Text 50"/>
          <p:cNvSpPr txBox="1"/>
          <p:nvPr/>
        </p:nvSpPr>
        <p:spPr>
          <a:xfrm>
            <a:off x="3383279" y="5271516"/>
            <a:ext cx="2651760" cy="6355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Risk management</a:t>
            </a:r>
          </a:p>
        </p:txBody>
      </p:sp>
      <p:sp>
        <p:nvSpPr>
          <p:cNvPr id="51" name="Shape 51"/>
          <p:cNvSpPr/>
          <p:nvPr/>
        </p:nvSpPr>
        <p:spPr>
          <a:xfrm>
            <a:off x="6080760" y="5234940"/>
            <a:ext cx="2743200" cy="70866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52" name="Text 52"/>
          <p:cNvSpPr txBox="1"/>
          <p:nvPr/>
        </p:nvSpPr>
        <p:spPr>
          <a:xfrm>
            <a:off x="6126480" y="5271516"/>
            <a:ext cx="2651760" cy="6355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Safety evidence</a:t>
            </a:r>
          </a:p>
        </p:txBody>
      </p:sp>
      <p:sp>
        <p:nvSpPr>
          <p:cNvPr id="53" name="Shape 53"/>
          <p:cNvSpPr/>
          <p:nvPr/>
        </p:nvSpPr>
        <p:spPr>
          <a:xfrm>
            <a:off x="8823960" y="5234940"/>
            <a:ext cx="2743200" cy="70866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54" name="Text 54"/>
          <p:cNvSpPr txBox="1"/>
          <p:nvPr/>
        </p:nvSpPr>
        <p:spPr>
          <a:xfrm>
            <a:off x="8869680" y="5271516"/>
            <a:ext cx="2651760" cy="6355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Safety, tolerability, dose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02920" y="29260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00" b="1">
                <a:solidFill>
                  <a:srgbClr val="D71920"/>
                </a:solidFill>
                <a:latin typeface="Aptos"/>
              </a:rPr>
              <a:t>STUDY SYNOPSIS STUDIO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621792"/>
            <a:ext cx="72237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0">
                <a:solidFill>
                  <a:srgbClr val="242424"/>
                </a:solidFill>
                <a:latin typeface="Aptos"/>
              </a:rPr>
              <a:t>Guardrails are advisory profiles, not a hard gate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30352" y="112471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200" b="0">
                <a:solidFill>
                  <a:srgbClr val="475569"/>
                </a:solidFill>
                <a:latin typeface="Aptos"/>
              </a:rPr>
              <a:t>Auto-suggest applies discipline only when the concept indicates it; users can override.</a:t>
            </a:r>
          </a:p>
        </p:txBody>
      </p:sp>
      <p:sp>
        <p:nvSpPr>
          <p:cNvPr id="7" name="Shape 7"/>
          <p:cNvSpPr/>
          <p:nvPr/>
        </p:nvSpPr>
        <p:spPr>
          <a:xfrm>
            <a:off x="685800" y="1691640"/>
            <a:ext cx="2331720" cy="749808"/>
          </a:xfrm>
          <a:prstGeom prst="roundRect">
            <a:avLst/>
          </a:prstGeom>
          <a:solidFill>
            <a:srgbClr val="E7F5FF"/>
          </a:solidFill>
          <a:ln w="15240">
            <a:solidFill>
              <a:srgbClr val="1864AB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868680" y="1901952"/>
            <a:ext cx="196596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600" b="1">
                <a:solidFill>
                  <a:srgbClr val="1864AB"/>
                </a:solidFill>
                <a:latin typeface="Aptos"/>
              </a:rPr>
              <a:t>Interventional?</a:t>
            </a:r>
          </a:p>
        </p:txBody>
      </p:sp>
      <p:cxnSp>
        <p:nvCxnSpPr>
          <p:cNvPr id="9" name="Connector 9"/>
          <p:cNvCxnSpPr/>
          <p:nvPr/>
        </p:nvCxnSpPr>
        <p:spPr>
          <a:xfrm flipH="0" flipV="0">
            <a:off x="3063240" y="2057400"/>
            <a:ext cx="914399" cy="0"/>
          </a:xfrm>
          <a:prstGeom prst="line">
            <a:avLst/>
          </a:prstGeom>
          <a:ln w="20320">
            <a:solidFill>
              <a:srgbClr val="1864AB"/>
            </a:solidFill>
            <a:headEnd type="triangle"/>
          </a:ln>
        </p:spPr>
      </p:cxnSp>
      <p:sp>
        <p:nvSpPr>
          <p:cNvPr id="10" name="Shape 10"/>
          <p:cNvSpPr/>
          <p:nvPr/>
        </p:nvSpPr>
        <p:spPr>
          <a:xfrm>
            <a:off x="4069080" y="1417320"/>
            <a:ext cx="2697480" cy="1280160"/>
          </a:xfrm>
          <a:prstGeom prst="roundRect">
            <a:avLst/>
          </a:prstGeom>
          <a:solidFill>
            <a:srgbClr val="FFF7F7"/>
          </a:solidFill>
          <a:ln w="15240">
            <a:solidFill>
              <a:srgbClr val="D71920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4251960" y="1627632"/>
            <a:ext cx="2331720" cy="7132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700" b="1">
                <a:solidFill>
                  <a:srgbClr val="D71920"/>
                </a:solidFill>
                <a:latin typeface="Aptos"/>
              </a:rPr>
              <a:t>Practice / guideline intent</a:t>
            </a:r>
          </a:p>
        </p:txBody>
      </p:sp>
      <p:cxnSp>
        <p:nvCxnSpPr>
          <p:cNvPr id="12" name="Connector 12"/>
          <p:cNvCxnSpPr/>
          <p:nvPr/>
        </p:nvCxnSpPr>
        <p:spPr>
          <a:xfrm flipH="0" flipV="0">
            <a:off x="6812280" y="2057400"/>
            <a:ext cx="914399" cy="0"/>
          </a:xfrm>
          <a:prstGeom prst="line">
            <a:avLst/>
          </a:prstGeom>
          <a:ln w="20320">
            <a:solidFill>
              <a:srgbClr val="8A1538"/>
            </a:solidFill>
            <a:headEnd type="triangle"/>
          </a:ln>
        </p:spPr>
      </p:cxnSp>
      <p:sp>
        <p:nvSpPr>
          <p:cNvPr id="13" name="Shape 13"/>
          <p:cNvSpPr/>
          <p:nvPr/>
        </p:nvSpPr>
        <p:spPr>
          <a:xfrm>
            <a:off x="7818120" y="1325880"/>
            <a:ext cx="3246120" cy="1463040"/>
          </a:xfrm>
          <a:prstGeom prst="roundRect">
            <a:avLst/>
          </a:prstGeom>
          <a:solidFill>
            <a:srgbClr val="FDECEC"/>
          </a:solidFill>
          <a:ln w="15240">
            <a:solidFill>
              <a:srgbClr val="D71920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8065008" y="1600200"/>
            <a:ext cx="2788920" cy="5943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700" b="1">
                <a:solidFill>
                  <a:srgbClr val="D71920"/>
                </a:solidFill>
                <a:latin typeface="Aptos"/>
              </a:rPr>
              <a:t>Practice-informing PED guardrails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8183879" y="2176272"/>
            <a:ext cx="251460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100" b="0">
                <a:solidFill>
                  <a:srgbClr val="475569"/>
                </a:solidFill>
                <a:latin typeface="Aptos"/>
              </a:rPr>
              <a:t>Confirm Phase 3 safety data</a:t>
            </a:r>
          </a:p>
        </p:txBody>
      </p:sp>
      <p:sp>
        <p:nvSpPr>
          <p:cNvPr id="16" name="Shape 16"/>
          <p:cNvSpPr/>
          <p:nvPr/>
        </p:nvSpPr>
        <p:spPr>
          <a:xfrm>
            <a:off x="4069080" y="3401568"/>
            <a:ext cx="2697480" cy="1280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4251960" y="3621024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700" b="1">
                <a:solidFill>
                  <a:srgbClr val="242424"/>
                </a:solidFill>
                <a:latin typeface="Aptos"/>
              </a:rPr>
              <a:t>HTA / access / publication</a:t>
            </a:r>
          </a:p>
        </p:txBody>
      </p:sp>
      <p:cxnSp>
        <p:nvCxnSpPr>
          <p:cNvPr id="18" name="Connector 18"/>
          <p:cNvCxnSpPr/>
          <p:nvPr/>
        </p:nvCxnSpPr>
        <p:spPr>
          <a:xfrm flipH="0" flipV="0">
            <a:off x="6812280" y="4041648"/>
            <a:ext cx="914399" cy="0"/>
          </a:xfrm>
          <a:prstGeom prst="line">
            <a:avLst/>
          </a:prstGeom>
          <a:ln w="20320">
            <a:solidFill>
              <a:srgbClr val="475569"/>
            </a:solidFill>
            <a:headEnd type="triangle"/>
          </a:ln>
        </p:spPr>
      </p:cxnSp>
      <p:sp>
        <p:nvSpPr>
          <p:cNvPr id="19" name="Shape 19"/>
          <p:cNvSpPr/>
          <p:nvPr/>
        </p:nvSpPr>
        <p:spPr>
          <a:xfrm>
            <a:off x="7818120" y="3310128"/>
            <a:ext cx="3246120" cy="1463040"/>
          </a:xfrm>
          <a:prstGeom prst="roundRect">
            <a:avLst/>
          </a:prstGeom>
          <a:solidFill>
            <a:srgbClr val="E7F5FF"/>
          </a:solidFill>
          <a:ln w="15240">
            <a:solidFill>
              <a:srgbClr val="1864AB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8092440" y="3584448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700" b="1">
                <a:solidFill>
                  <a:srgbClr val="1864AB"/>
                </a:solidFill>
                <a:latin typeface="Aptos"/>
              </a:rPr>
              <a:t>Lean decision-evidence guardrails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8138160" y="4160520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100" b="0">
                <a:solidFill>
                  <a:srgbClr val="475569"/>
                </a:solidFill>
                <a:latin typeface="Aptos"/>
              </a:rPr>
              <a:t>Focused, proportionate evidence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731520" y="5715000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600" b="1">
                <a:solidFill>
                  <a:srgbClr val="242424"/>
                </a:solidFill>
                <a:latin typeface="Aptos"/>
              </a:rPr>
              <a:t>Checks produce: Aligned / Needs justification / Consider simplifying. They guide iteration; they do not block the workflow.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02920" y="29260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00" b="1">
                <a:solidFill>
                  <a:srgbClr val="D71920"/>
                </a:solidFill>
                <a:latin typeface="Aptos"/>
              </a:rPr>
              <a:t>STUDY SYNOPSIS STUDIO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621792"/>
            <a:ext cx="72237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0">
                <a:solidFill>
                  <a:srgbClr val="242424"/>
                </a:solidFill>
                <a:latin typeface="Aptos"/>
              </a:rPr>
              <a:t>What the guardrails actually check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30352" y="112471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200" b="0">
                <a:solidFill>
                  <a:srgbClr val="475569"/>
                </a:solidFill>
                <a:latin typeface="Aptos"/>
              </a:rPr>
              <a:t>The modal focuses on avoidable complexity and data-collection bloat.</a:t>
            </a:r>
          </a:p>
        </p:txBody>
      </p:sp>
      <p:sp>
        <p:nvSpPr>
          <p:cNvPr id="7" name="Shape 7"/>
          <p:cNvSpPr/>
          <p:nvPr/>
        </p:nvSpPr>
        <p:spPr>
          <a:xfrm>
            <a:off x="658368" y="1600200"/>
            <a:ext cx="3246120" cy="1207008"/>
          </a:xfrm>
          <a:prstGeom prst="roundRect">
            <a:avLst/>
          </a:prstGeom>
          <a:solidFill>
            <a:srgbClr val="FDECEC"/>
          </a:solidFill>
          <a:ln w="15240">
            <a:solidFill>
              <a:srgbClr val="D71920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859536" y="1764792"/>
            <a:ext cx="284378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400" b="1">
                <a:solidFill>
                  <a:srgbClr val="D71920"/>
                </a:solidFill>
                <a:latin typeface="Aptos"/>
              </a:rPr>
              <a:t>Objective count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859536" y="2103120"/>
            <a:ext cx="2843784" cy="4754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475569"/>
                </a:solidFill>
                <a:latin typeface="Aptos"/>
              </a:rPr>
              <a:t>Usually ≤5; trim or justify extra objectives.</a:t>
            </a:r>
          </a:p>
        </p:txBody>
      </p:sp>
      <p:sp>
        <p:nvSpPr>
          <p:cNvPr id="10" name="Shape 10"/>
          <p:cNvSpPr/>
          <p:nvPr/>
        </p:nvSpPr>
        <p:spPr>
          <a:xfrm>
            <a:off x="4361688" y="1600200"/>
            <a:ext cx="3246120" cy="1207008"/>
          </a:xfrm>
          <a:prstGeom prst="roundRect">
            <a:avLst/>
          </a:prstGeom>
          <a:solidFill>
            <a:srgbClr val="FDECEC"/>
          </a:solidFill>
          <a:ln w="15240">
            <a:solidFill>
              <a:srgbClr val="D71920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4562855" y="1764792"/>
            <a:ext cx="284378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400" b="1">
                <a:solidFill>
                  <a:srgbClr val="D71920"/>
                </a:solidFill>
                <a:latin typeface="Aptos"/>
              </a:rPr>
              <a:t>Endpoint focus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4562855" y="2103120"/>
            <a:ext cx="2843784" cy="4754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475569"/>
                </a:solidFill>
                <a:latin typeface="Aptos"/>
              </a:rPr>
              <a:t>1 primary + focused key secondary endpoints.</a:t>
            </a:r>
          </a:p>
        </p:txBody>
      </p:sp>
      <p:sp>
        <p:nvSpPr>
          <p:cNvPr id="13" name="Shape 13"/>
          <p:cNvSpPr/>
          <p:nvPr/>
        </p:nvSpPr>
        <p:spPr>
          <a:xfrm>
            <a:off x="8065008" y="1600200"/>
            <a:ext cx="3246120" cy="120700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8266176" y="1764792"/>
            <a:ext cx="284378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400" b="1">
                <a:solidFill>
                  <a:srgbClr val="242424"/>
                </a:solidFill>
                <a:latin typeface="Aptos"/>
              </a:rPr>
              <a:t>Duration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8266176" y="2103120"/>
            <a:ext cx="2843784" cy="4754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475569"/>
                </a:solidFill>
                <a:latin typeface="Aptos"/>
              </a:rPr>
              <a:t>Enrollment, treatment/observation, follow-up explicit.</a:t>
            </a:r>
          </a:p>
        </p:txBody>
      </p:sp>
      <p:sp>
        <p:nvSpPr>
          <p:cNvPr id="16" name="Shape 16"/>
          <p:cNvSpPr/>
          <p:nvPr/>
        </p:nvSpPr>
        <p:spPr>
          <a:xfrm>
            <a:off x="658368" y="3172968"/>
            <a:ext cx="3246120" cy="120700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859536" y="3337560"/>
            <a:ext cx="284378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400" b="1">
                <a:solidFill>
                  <a:srgbClr val="242424"/>
                </a:solidFill>
                <a:latin typeface="Aptos"/>
              </a:rPr>
              <a:t>Comparator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859536" y="3675887"/>
            <a:ext cx="2843784" cy="4754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475569"/>
                </a:solidFill>
                <a:latin typeface="Aptos"/>
              </a:rPr>
              <a:t>Control or benchmark consistent across outputs.</a:t>
            </a:r>
          </a:p>
        </p:txBody>
      </p:sp>
      <p:sp>
        <p:nvSpPr>
          <p:cNvPr id="19" name="Shape 19"/>
          <p:cNvSpPr/>
          <p:nvPr/>
        </p:nvSpPr>
        <p:spPr>
          <a:xfrm>
            <a:off x="4361688" y="3172968"/>
            <a:ext cx="3246120" cy="1207008"/>
          </a:xfrm>
          <a:prstGeom prst="roundRect">
            <a:avLst/>
          </a:prstGeom>
          <a:solidFill>
            <a:srgbClr val="FDECEC"/>
          </a:solidFill>
          <a:ln w="15240">
            <a:solidFill>
              <a:srgbClr val="D71920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4562855" y="3337560"/>
            <a:ext cx="284378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400" b="1">
                <a:solidFill>
                  <a:srgbClr val="D71920"/>
                </a:solidFill>
                <a:latin typeface="Aptos"/>
              </a:rPr>
              <a:t>Special assessments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4562855" y="3675887"/>
            <a:ext cx="2843784" cy="4754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475569"/>
                </a:solidFill>
                <a:latin typeface="Aptos"/>
              </a:rPr>
              <a:t>PRO, PK/PD, biomarkers, imaging, labs only if decision-critical.</a:t>
            </a:r>
          </a:p>
        </p:txBody>
      </p:sp>
      <p:sp>
        <p:nvSpPr>
          <p:cNvPr id="22" name="Shape 22"/>
          <p:cNvSpPr/>
          <p:nvPr/>
        </p:nvSpPr>
        <p:spPr>
          <a:xfrm>
            <a:off x="8065008" y="3172968"/>
            <a:ext cx="3246120" cy="120700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23" name="Text 23"/>
          <p:cNvSpPr txBox="1"/>
          <p:nvPr/>
        </p:nvSpPr>
        <p:spPr>
          <a:xfrm>
            <a:off x="8266176" y="3337560"/>
            <a:ext cx="284378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400" b="1">
                <a:solidFill>
                  <a:srgbClr val="242424"/>
                </a:solidFill>
                <a:latin typeface="Aptos"/>
              </a:rPr>
              <a:t>Eligibility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8266176" y="3675887"/>
            <a:ext cx="2843784" cy="4754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475569"/>
                </a:solidFill>
                <a:latin typeface="Aptos"/>
              </a:rPr>
              <a:t>Inclusive, verifiable, non-duplicative criteria.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02920" y="29260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00" b="1">
                <a:solidFill>
                  <a:srgbClr val="D71920"/>
                </a:solidFill>
                <a:latin typeface="Aptos"/>
              </a:rPr>
              <a:t>STUDY SYNOPSIS STUDIO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621792"/>
            <a:ext cx="72237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0">
                <a:solidFill>
                  <a:srgbClr val="242424"/>
                </a:solidFill>
                <a:latin typeface="Aptos"/>
              </a:rPr>
              <a:t>Special assessments must earn their place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30352" y="112471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200" b="0">
                <a:solidFill>
                  <a:srgbClr val="475569"/>
                </a:solidFill>
                <a:latin typeface="Aptos"/>
              </a:rPr>
              <a:t>The app now treats PRO/COA, PK/PD, biomarkers, and extra assessments as burden drivers unless justified.</a:t>
            </a:r>
          </a:p>
        </p:txBody>
      </p:sp>
      <p:sp>
        <p:nvSpPr>
          <p:cNvPr id="7" name="Shape 7"/>
          <p:cNvSpPr/>
          <p:nvPr/>
        </p:nvSpPr>
        <p:spPr>
          <a:xfrm>
            <a:off x="685800" y="1600200"/>
            <a:ext cx="3581400" cy="886968"/>
          </a:xfrm>
          <a:prstGeom prst="rect">
            <a:avLst/>
          </a:prstGeom>
          <a:solidFill>
            <a:srgbClr val="FDECEC"/>
          </a:solidFill>
          <a:ln w="15240">
            <a:solidFill>
              <a:srgbClr val="E5E7EB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731520" y="1636776"/>
            <a:ext cx="3489960" cy="8138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D71920"/>
                </a:solidFill>
                <a:latin typeface="Aptos"/>
              </a:rPr>
              <a:t>Assessment type</a:t>
            </a:r>
          </a:p>
        </p:txBody>
      </p:sp>
      <p:sp>
        <p:nvSpPr>
          <p:cNvPr id="9" name="Shape 9"/>
          <p:cNvSpPr/>
          <p:nvPr/>
        </p:nvSpPr>
        <p:spPr>
          <a:xfrm>
            <a:off x="4267199" y="1600200"/>
            <a:ext cx="3581400" cy="886968"/>
          </a:xfrm>
          <a:prstGeom prst="rect">
            <a:avLst/>
          </a:prstGeom>
          <a:solidFill>
            <a:srgbClr val="FDECEC"/>
          </a:solidFill>
          <a:ln w="15240">
            <a:solidFill>
              <a:srgbClr val="E5E7EB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4312919" y="1636776"/>
            <a:ext cx="3489960" cy="8138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D71920"/>
                </a:solidFill>
                <a:latin typeface="Aptos"/>
              </a:rPr>
              <a:t>Allowed when it supports</a:t>
            </a:r>
          </a:p>
        </p:txBody>
      </p:sp>
      <p:sp>
        <p:nvSpPr>
          <p:cNvPr id="11" name="Shape 11"/>
          <p:cNvSpPr/>
          <p:nvPr/>
        </p:nvSpPr>
        <p:spPr>
          <a:xfrm>
            <a:off x="7848599" y="1600200"/>
            <a:ext cx="3581400" cy="886968"/>
          </a:xfrm>
          <a:prstGeom prst="rect">
            <a:avLst/>
          </a:prstGeom>
          <a:solidFill>
            <a:srgbClr val="FDECEC"/>
          </a:solidFill>
          <a:ln w="15240">
            <a:solidFill>
              <a:srgbClr val="E5E7EB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7894320" y="1636776"/>
            <a:ext cx="3489960" cy="8138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D71920"/>
                </a:solidFill>
                <a:latin typeface="Aptos"/>
              </a:rPr>
              <a:t>AI behavior</a:t>
            </a:r>
          </a:p>
        </p:txBody>
      </p:sp>
      <p:sp>
        <p:nvSpPr>
          <p:cNvPr id="13" name="Shape 13"/>
          <p:cNvSpPr/>
          <p:nvPr/>
        </p:nvSpPr>
        <p:spPr>
          <a:xfrm>
            <a:off x="685800" y="2487168"/>
            <a:ext cx="3581400" cy="88696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731520" y="2523744"/>
            <a:ext cx="3489960" cy="8138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242424"/>
                </a:solidFill>
                <a:latin typeface="Aptos"/>
              </a:rPr>
              <a:t>PRO / COA</a:t>
            </a:r>
          </a:p>
        </p:txBody>
      </p:sp>
      <p:sp>
        <p:nvSpPr>
          <p:cNvPr id="15" name="Shape 15"/>
          <p:cNvSpPr/>
          <p:nvPr/>
        </p:nvSpPr>
        <p:spPr>
          <a:xfrm>
            <a:off x="4267199" y="2487168"/>
            <a:ext cx="3581400" cy="88696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4312919" y="2523744"/>
            <a:ext cx="3489960" cy="8138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00" b="0">
                <a:solidFill>
                  <a:srgbClr val="242424"/>
                </a:solidFill>
                <a:latin typeface="Aptos"/>
              </a:rPr>
              <a:t>Symptoms, functioning, QoL, tolerability, HTA or practice interpretation</a:t>
            </a:r>
          </a:p>
        </p:txBody>
      </p:sp>
      <p:sp>
        <p:nvSpPr>
          <p:cNvPr id="17" name="Shape 17"/>
          <p:cNvSpPr/>
          <p:nvPr/>
        </p:nvSpPr>
        <p:spPr>
          <a:xfrm>
            <a:off x="7848599" y="2487168"/>
            <a:ext cx="3581400" cy="88696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7894320" y="2523744"/>
            <a:ext cx="3489960" cy="8138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00" b="0">
                <a:solidFill>
                  <a:srgbClr val="242424"/>
                </a:solidFill>
                <a:latin typeface="Aptos"/>
              </a:rPr>
              <a:t>Include only if patient-relevant outcome is decision-critical</a:t>
            </a:r>
          </a:p>
        </p:txBody>
      </p:sp>
      <p:sp>
        <p:nvSpPr>
          <p:cNvPr id="19" name="Shape 19"/>
          <p:cNvSpPr/>
          <p:nvPr/>
        </p:nvSpPr>
        <p:spPr>
          <a:xfrm>
            <a:off x="685800" y="3374136"/>
            <a:ext cx="3581400" cy="886968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731520" y="3410712"/>
            <a:ext cx="3489960" cy="8138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242424"/>
                </a:solidFill>
                <a:latin typeface="Aptos"/>
              </a:rPr>
              <a:t>PK / PD</a:t>
            </a:r>
          </a:p>
        </p:txBody>
      </p:sp>
      <p:sp>
        <p:nvSpPr>
          <p:cNvPr id="21" name="Shape 21"/>
          <p:cNvSpPr/>
          <p:nvPr/>
        </p:nvSpPr>
        <p:spPr>
          <a:xfrm>
            <a:off x="4267199" y="3374136"/>
            <a:ext cx="3581400" cy="886968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4312919" y="3410712"/>
            <a:ext cx="3489960" cy="8138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00" b="0">
                <a:solidFill>
                  <a:srgbClr val="242424"/>
                </a:solidFill>
                <a:latin typeface="Aptos"/>
              </a:rPr>
              <a:t>Dose, exposure-response, safety, bridging, special population</a:t>
            </a:r>
          </a:p>
        </p:txBody>
      </p:sp>
      <p:sp>
        <p:nvSpPr>
          <p:cNvPr id="23" name="Shape 23"/>
          <p:cNvSpPr/>
          <p:nvPr/>
        </p:nvSpPr>
        <p:spPr>
          <a:xfrm>
            <a:off x="7848599" y="3374136"/>
            <a:ext cx="3581400" cy="886968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24" name="Text 24"/>
          <p:cNvSpPr txBox="1"/>
          <p:nvPr/>
        </p:nvSpPr>
        <p:spPr>
          <a:xfrm>
            <a:off x="7894320" y="3410712"/>
            <a:ext cx="3489960" cy="8138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Avoid by default in pragmatic/practice-informing studies</a:t>
            </a:r>
          </a:p>
        </p:txBody>
      </p:sp>
      <p:sp>
        <p:nvSpPr>
          <p:cNvPr id="25" name="Shape 25"/>
          <p:cNvSpPr/>
          <p:nvPr/>
        </p:nvSpPr>
        <p:spPr>
          <a:xfrm>
            <a:off x="685800" y="4261104"/>
            <a:ext cx="3581400" cy="88696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26" name="Text 26"/>
          <p:cNvSpPr txBox="1"/>
          <p:nvPr/>
        </p:nvSpPr>
        <p:spPr>
          <a:xfrm>
            <a:off x="731520" y="4297680"/>
            <a:ext cx="3489960" cy="8138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242424"/>
                </a:solidFill>
                <a:latin typeface="Aptos"/>
              </a:rPr>
              <a:t>Biomarkers</a:t>
            </a:r>
          </a:p>
        </p:txBody>
      </p:sp>
      <p:sp>
        <p:nvSpPr>
          <p:cNvPr id="27" name="Shape 27"/>
          <p:cNvSpPr/>
          <p:nvPr/>
        </p:nvSpPr>
        <p:spPr>
          <a:xfrm>
            <a:off x="4267199" y="4261104"/>
            <a:ext cx="3581400" cy="88696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28" name="Text 28"/>
          <p:cNvSpPr txBox="1"/>
          <p:nvPr/>
        </p:nvSpPr>
        <p:spPr>
          <a:xfrm>
            <a:off x="4312919" y="4297680"/>
            <a:ext cx="3489960" cy="8138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00" b="0">
                <a:solidFill>
                  <a:srgbClr val="242424"/>
                </a:solidFill>
                <a:latin typeface="Aptos"/>
              </a:rPr>
              <a:t>Eligibility, stratification, predictive/prognostic interpretation, safety risk</a:t>
            </a:r>
          </a:p>
        </p:txBody>
      </p:sp>
      <p:sp>
        <p:nvSpPr>
          <p:cNvPr id="29" name="Shape 29"/>
          <p:cNvSpPr/>
          <p:nvPr/>
        </p:nvSpPr>
        <p:spPr>
          <a:xfrm>
            <a:off x="7848599" y="4261104"/>
            <a:ext cx="3581400" cy="88696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30" name="Text 30"/>
          <p:cNvSpPr txBox="1"/>
          <p:nvPr/>
        </p:nvSpPr>
        <p:spPr>
          <a:xfrm>
            <a:off x="7894320" y="4297680"/>
            <a:ext cx="3489960" cy="8138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Require explicit decision or endpoint role</a:t>
            </a:r>
          </a:p>
        </p:txBody>
      </p:sp>
      <p:sp>
        <p:nvSpPr>
          <p:cNvPr id="31" name="Shape 31"/>
          <p:cNvSpPr/>
          <p:nvPr/>
        </p:nvSpPr>
        <p:spPr>
          <a:xfrm>
            <a:off x="685800" y="5148072"/>
            <a:ext cx="3581400" cy="886968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32" name="Text 32"/>
          <p:cNvSpPr txBox="1"/>
          <p:nvPr/>
        </p:nvSpPr>
        <p:spPr>
          <a:xfrm>
            <a:off x="731520" y="5184648"/>
            <a:ext cx="3489960" cy="8138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242424"/>
                </a:solidFill>
                <a:latin typeface="Aptos"/>
              </a:rPr>
              <a:t>Special imaging/labs/ECG/wearables</a:t>
            </a:r>
          </a:p>
        </p:txBody>
      </p:sp>
      <p:sp>
        <p:nvSpPr>
          <p:cNvPr id="33" name="Shape 33"/>
          <p:cNvSpPr/>
          <p:nvPr/>
        </p:nvSpPr>
        <p:spPr>
          <a:xfrm>
            <a:off x="4267199" y="5148072"/>
            <a:ext cx="3581400" cy="886968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34" name="Text 34"/>
          <p:cNvSpPr txBox="1"/>
          <p:nvPr/>
        </p:nvSpPr>
        <p:spPr>
          <a:xfrm>
            <a:off x="4312919" y="5184648"/>
            <a:ext cx="3489960" cy="8138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Endpoint evaluation, essential safety, feasibility</a:t>
            </a:r>
          </a:p>
        </p:txBody>
      </p:sp>
      <p:sp>
        <p:nvSpPr>
          <p:cNvPr id="35" name="Shape 35"/>
          <p:cNvSpPr/>
          <p:nvPr/>
        </p:nvSpPr>
        <p:spPr>
          <a:xfrm>
            <a:off x="7848599" y="5148072"/>
            <a:ext cx="3581400" cy="886968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36" name="Text 36"/>
          <p:cNvSpPr txBox="1"/>
          <p:nvPr/>
        </p:nvSpPr>
        <p:spPr>
          <a:xfrm>
            <a:off x="7894320" y="5184648"/>
            <a:ext cx="3489960" cy="8138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Flag if not clearly tied to value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02920" y="29260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00" b="1">
                <a:solidFill>
                  <a:srgbClr val="D71920"/>
                </a:solidFill>
                <a:latin typeface="Aptos"/>
              </a:rPr>
              <a:t>STUDY SYNOPSIS STUDIO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621792"/>
            <a:ext cx="72237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0">
                <a:solidFill>
                  <a:srgbClr val="242424"/>
                </a:solidFill>
                <a:latin typeface="Aptos"/>
              </a:rPr>
              <a:t>AI suggestions are selectable alternatives, not auto-fill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30352" y="112471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200" b="0">
                <a:solidFill>
                  <a:srgbClr val="475569"/>
                </a:solidFill>
                <a:latin typeface="Aptos"/>
              </a:rPr>
              <a:t>The AI proposes packages; the user chooses which parts become working study content.</a:t>
            </a:r>
          </a:p>
        </p:txBody>
      </p:sp>
      <p:sp>
        <p:nvSpPr>
          <p:cNvPr id="7" name="Shape 7"/>
          <p:cNvSpPr/>
          <p:nvPr/>
        </p:nvSpPr>
        <p:spPr>
          <a:xfrm>
            <a:off x="685800" y="1645920"/>
            <a:ext cx="1920240" cy="2240280"/>
          </a:xfrm>
          <a:prstGeom prst="roundRect">
            <a:avLst/>
          </a:prstGeom>
          <a:solidFill>
            <a:srgbClr val="FDECEC"/>
          </a:solidFill>
          <a:ln w="15240">
            <a:solidFill>
              <a:srgbClr val="D71920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832104" y="1874519"/>
            <a:ext cx="162763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400" b="1">
                <a:solidFill>
                  <a:srgbClr val="D71920"/>
                </a:solidFill>
                <a:latin typeface="Aptos"/>
              </a:rPr>
              <a:t>Readiness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832104" y="2423160"/>
            <a:ext cx="1627632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000" b="0">
                <a:solidFill>
                  <a:srgbClr val="475569"/>
                </a:solidFill>
                <a:latin typeface="Aptos"/>
              </a:rPr>
              <a:t>Needs only essential context for that field</a:t>
            </a:r>
          </a:p>
        </p:txBody>
      </p:sp>
      <p:cxnSp>
        <p:nvCxnSpPr>
          <p:cNvPr id="10" name="Connector 10"/>
          <p:cNvCxnSpPr/>
          <p:nvPr/>
        </p:nvCxnSpPr>
        <p:spPr>
          <a:xfrm flipH="0" flipV="0">
            <a:off x="2633472" y="2761488"/>
            <a:ext cx="219456" cy="0"/>
          </a:xfrm>
          <a:prstGeom prst="line">
            <a:avLst/>
          </a:prstGeom>
          <a:ln w="15240">
            <a:solidFill>
              <a:srgbClr val="8A1538"/>
            </a:solidFill>
            <a:headEnd type="triangle"/>
          </a:ln>
        </p:spPr>
      </p:cxnSp>
      <p:sp>
        <p:nvSpPr>
          <p:cNvPr id="11" name="Shape 11"/>
          <p:cNvSpPr/>
          <p:nvPr/>
        </p:nvSpPr>
        <p:spPr>
          <a:xfrm>
            <a:off x="2862072" y="1645920"/>
            <a:ext cx="1920240" cy="2240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3008376" y="1874519"/>
            <a:ext cx="162763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400" b="1">
                <a:solidFill>
                  <a:srgbClr val="242424"/>
                </a:solidFill>
                <a:latin typeface="Aptos"/>
              </a:rPr>
              <a:t>Generate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3008376" y="2423160"/>
            <a:ext cx="1627632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000" b="0">
                <a:solidFill>
                  <a:srgbClr val="475569"/>
                </a:solidFill>
                <a:latin typeface="Aptos"/>
              </a:rPr>
              <a:t>3 option packages: balanced, pragmatic, assertive/request-shaped</a:t>
            </a:r>
          </a:p>
        </p:txBody>
      </p:sp>
      <p:cxnSp>
        <p:nvCxnSpPr>
          <p:cNvPr id="14" name="Connector 14"/>
          <p:cNvCxnSpPr/>
          <p:nvPr/>
        </p:nvCxnSpPr>
        <p:spPr>
          <a:xfrm flipH="0" flipV="0">
            <a:off x="4809744" y="2761488"/>
            <a:ext cx="219456" cy="0"/>
          </a:xfrm>
          <a:prstGeom prst="line">
            <a:avLst/>
          </a:prstGeom>
          <a:ln w="15240">
            <a:solidFill>
              <a:srgbClr val="8A1538"/>
            </a:solidFill>
            <a:headEnd type="triangle"/>
          </a:ln>
        </p:spPr>
      </p:cxnSp>
      <p:sp>
        <p:nvSpPr>
          <p:cNvPr id="15" name="Shape 15"/>
          <p:cNvSpPr/>
          <p:nvPr/>
        </p:nvSpPr>
        <p:spPr>
          <a:xfrm>
            <a:off x="5038344" y="1645920"/>
            <a:ext cx="1920240" cy="2240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5184648" y="1874519"/>
            <a:ext cx="162763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400" b="1">
                <a:solidFill>
                  <a:srgbClr val="242424"/>
                </a:solidFill>
                <a:latin typeface="Aptos"/>
              </a:rPr>
              <a:t>Pushback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5184648" y="2423160"/>
            <a:ext cx="1627632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000" b="0">
                <a:solidFill>
                  <a:srgbClr val="475569"/>
                </a:solidFill>
                <a:latin typeface="Aptos"/>
              </a:rPr>
              <a:t>Flags conflicts with study context or guardrails</a:t>
            </a:r>
          </a:p>
        </p:txBody>
      </p:sp>
      <p:cxnSp>
        <p:nvCxnSpPr>
          <p:cNvPr id="18" name="Connector 18"/>
          <p:cNvCxnSpPr/>
          <p:nvPr/>
        </p:nvCxnSpPr>
        <p:spPr>
          <a:xfrm flipH="0" flipV="0">
            <a:off x="6986016" y="2761488"/>
            <a:ext cx="219456" cy="0"/>
          </a:xfrm>
          <a:prstGeom prst="line">
            <a:avLst/>
          </a:prstGeom>
          <a:ln w="15240">
            <a:solidFill>
              <a:srgbClr val="8A1538"/>
            </a:solidFill>
            <a:headEnd type="triangle"/>
          </a:ln>
        </p:spPr>
      </p:cxnSp>
      <p:sp>
        <p:nvSpPr>
          <p:cNvPr id="19" name="Shape 19"/>
          <p:cNvSpPr/>
          <p:nvPr/>
        </p:nvSpPr>
        <p:spPr>
          <a:xfrm>
            <a:off x="7214616" y="1645920"/>
            <a:ext cx="1920240" cy="2240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7360919" y="1874519"/>
            <a:ext cx="162763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400" b="1">
                <a:solidFill>
                  <a:srgbClr val="242424"/>
                </a:solidFill>
                <a:latin typeface="Aptos"/>
              </a:rPr>
              <a:t>Select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7360919" y="2423160"/>
            <a:ext cx="1627632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000" b="0">
                <a:solidFill>
                  <a:srgbClr val="475569"/>
                </a:solidFill>
                <a:latin typeface="Aptos"/>
              </a:rPr>
              <a:t>User accepts primary objective, selected secondary objectives, design text, endpoints</a:t>
            </a:r>
          </a:p>
        </p:txBody>
      </p:sp>
      <p:cxnSp>
        <p:nvCxnSpPr>
          <p:cNvPr id="22" name="Connector 22"/>
          <p:cNvCxnSpPr/>
          <p:nvPr/>
        </p:nvCxnSpPr>
        <p:spPr>
          <a:xfrm flipH="0" flipV="0">
            <a:off x="9162288" y="2761488"/>
            <a:ext cx="219456" cy="0"/>
          </a:xfrm>
          <a:prstGeom prst="line">
            <a:avLst/>
          </a:prstGeom>
          <a:ln w="15240">
            <a:solidFill>
              <a:srgbClr val="8A1538"/>
            </a:solidFill>
            <a:headEnd type="triangle"/>
          </a:ln>
        </p:spPr>
      </p:cxnSp>
      <p:sp>
        <p:nvSpPr>
          <p:cNvPr id="23" name="Shape 23"/>
          <p:cNvSpPr/>
          <p:nvPr/>
        </p:nvSpPr>
        <p:spPr>
          <a:xfrm>
            <a:off x="9390888" y="1645920"/>
            <a:ext cx="1920240" cy="2240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24" name="Text 24"/>
          <p:cNvSpPr txBox="1"/>
          <p:nvPr/>
        </p:nvSpPr>
        <p:spPr>
          <a:xfrm>
            <a:off x="9537192" y="1874519"/>
            <a:ext cx="162763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400" b="1">
                <a:solidFill>
                  <a:srgbClr val="242424"/>
                </a:solidFill>
                <a:latin typeface="Aptos"/>
              </a:rPr>
              <a:t>Merge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9537192" y="2423160"/>
            <a:ext cx="1627632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000" b="0">
                <a:solidFill>
                  <a:srgbClr val="475569"/>
                </a:solidFill>
                <a:latin typeface="Aptos"/>
              </a:rPr>
              <a:t>Existing accepted content is kept unless explicitly replaced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868680" y="525780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600" b="1">
                <a:solidFill>
                  <a:srgbClr val="8A1538"/>
                </a:solidFill>
                <a:latin typeface="Aptos"/>
              </a:rPr>
              <a:t>Example: if user asks for broad biomarkers but intent is practice-informing, AI should mark the option as partially aligned or conflicting and propose a leaner alternative.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02920" y="29260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00" b="1">
                <a:solidFill>
                  <a:srgbClr val="D71920"/>
                </a:solidFill>
                <a:latin typeface="Aptos"/>
              </a:rPr>
              <a:t>STUDY SYNOPSIS STUDIO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621792"/>
            <a:ext cx="72237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0">
                <a:solidFill>
                  <a:srgbClr val="242424"/>
                </a:solidFill>
                <a:latin typeface="Aptos"/>
              </a:rPr>
              <a:t>How AI is instructed behind the scenes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30352" y="112471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200" b="0">
                <a:solidFill>
                  <a:srgbClr val="475569"/>
                </a:solidFill>
                <a:latin typeface="Aptos"/>
              </a:rPr>
              <a:t>Every AI action receives the same study context plus field-specific constraints.</a:t>
            </a:r>
          </a:p>
        </p:txBody>
      </p:sp>
      <p:sp>
        <p:nvSpPr>
          <p:cNvPr id="7" name="Shape 7"/>
          <p:cNvSpPr/>
          <p:nvPr/>
        </p:nvSpPr>
        <p:spPr>
          <a:xfrm>
            <a:off x="731520" y="1572768"/>
            <a:ext cx="2834640" cy="4389120"/>
          </a:xfrm>
          <a:prstGeom prst="roundRect">
            <a:avLst/>
          </a:prstGeom>
          <a:solidFill>
            <a:srgbClr val="FFF7F7"/>
          </a:solidFill>
          <a:ln w="15240">
            <a:solidFill>
              <a:srgbClr val="D71920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960120" y="1810512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 b="1">
                <a:solidFill>
                  <a:srgbClr val="D71920"/>
                </a:solidFill>
                <a:latin typeface="Aptos"/>
              </a:rPr>
              <a:t>Shared context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60120" y="2267712"/>
            <a:ext cx="2331720" cy="28803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400" b="0">
                <a:solidFill>
                  <a:srgbClr val="242424"/>
                </a:solidFill>
                <a:latin typeface="Aptos"/>
              </a:rPr>
              <a:t>Study type</a:t>
            </a:r>
          </a:p>
          <a:p>
            <a:pPr algn="l"/>
            <a:r>
              <a:rPr lang="en-US" sz="1400" b="0">
                <a:solidFill>
                  <a:srgbClr val="242424"/>
                </a:solidFill>
                <a:latin typeface="Aptos"/>
              </a:rPr>
              <a:t>Development stage</a:t>
            </a:r>
          </a:p>
          <a:p>
            <a:pPr algn="l"/>
            <a:r>
              <a:rPr lang="en-US" sz="1400" b="0">
                <a:solidFill>
                  <a:srgbClr val="242424"/>
                </a:solidFill>
                <a:latin typeface="Aptos"/>
              </a:rPr>
              <a:t>Primary intent</a:t>
            </a:r>
          </a:p>
          <a:p>
            <a:pPr algn="l"/>
            <a:r>
              <a:rPr lang="en-US" sz="1400" b="0">
                <a:solidFill>
                  <a:srgbClr val="242424"/>
                </a:solidFill>
                <a:latin typeface="Aptos"/>
              </a:rPr>
              <a:t>Evidence use</a:t>
            </a:r>
          </a:p>
          <a:p>
            <a:pPr algn="l"/>
            <a:r>
              <a:rPr lang="en-US" sz="1400" b="0">
                <a:solidFill>
                  <a:srgbClr val="242424"/>
                </a:solidFill>
                <a:latin typeface="Aptos"/>
              </a:rPr>
              <a:t>Disease</a:t>
            </a:r>
          </a:p>
          <a:p>
            <a:pPr algn="l"/>
            <a:r>
              <a:rPr lang="en-US" sz="1400" b="0">
                <a:solidFill>
                  <a:srgbClr val="242424"/>
                </a:solidFill>
                <a:latin typeface="Aptos"/>
              </a:rPr>
              <a:t>Intervention</a:t>
            </a:r>
          </a:p>
          <a:p>
            <a:pPr algn="l"/>
            <a:r>
              <a:rPr lang="en-US" sz="1400" b="0">
                <a:solidFill>
                  <a:srgbClr val="242424"/>
                </a:solidFill>
                <a:latin typeface="Aptos"/>
              </a:rPr>
              <a:t>Comparator</a:t>
            </a:r>
          </a:p>
          <a:p>
            <a:pPr algn="l"/>
            <a:r>
              <a:rPr lang="en-US" sz="1400" b="0">
                <a:solidFill>
                  <a:srgbClr val="242424"/>
                </a:solidFill>
                <a:latin typeface="Aptos"/>
              </a:rPr>
              <a:t>Objectives</a:t>
            </a:r>
          </a:p>
          <a:p>
            <a:pPr algn="l"/>
            <a:r>
              <a:rPr lang="en-US" sz="1400" b="0">
                <a:solidFill>
                  <a:srgbClr val="242424"/>
                </a:solidFill>
                <a:latin typeface="Aptos"/>
              </a:rPr>
              <a:t>Endpoints</a:t>
            </a:r>
          </a:p>
          <a:p>
            <a:pPr algn="l"/>
            <a:r>
              <a:rPr lang="en-US" sz="1400" b="0">
                <a:solidFill>
                  <a:srgbClr val="242424"/>
                </a:solidFill>
                <a:latin typeface="Aptos"/>
              </a:rPr>
              <a:t>Guardrail profile</a:t>
            </a:r>
          </a:p>
        </p:txBody>
      </p:sp>
      <p:cxnSp>
        <p:nvCxnSpPr>
          <p:cNvPr id="10" name="Connector 10"/>
          <p:cNvCxnSpPr/>
          <p:nvPr/>
        </p:nvCxnSpPr>
        <p:spPr>
          <a:xfrm flipH="0" flipV="0">
            <a:off x="3749039" y="3703320"/>
            <a:ext cx="822961" cy="0"/>
          </a:xfrm>
          <a:prstGeom prst="line">
            <a:avLst/>
          </a:prstGeom>
          <a:ln w="20320">
            <a:solidFill>
              <a:srgbClr val="8A1538"/>
            </a:solidFill>
            <a:headEnd type="triangle"/>
          </a:ln>
        </p:spPr>
      </p:cxnSp>
      <p:sp>
        <p:nvSpPr>
          <p:cNvPr id="11" name="Shape 11"/>
          <p:cNvSpPr/>
          <p:nvPr/>
        </p:nvSpPr>
        <p:spPr>
          <a:xfrm>
            <a:off x="4617720" y="1572768"/>
            <a:ext cx="2788920" cy="4389120"/>
          </a:xfrm>
          <a:prstGeom prst="roundRect">
            <a:avLst/>
          </a:prstGeom>
          <a:solidFill>
            <a:srgbClr val="E7F5FF"/>
          </a:solidFill>
          <a:ln w="15240">
            <a:solidFill>
              <a:srgbClr val="1864AB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4846320" y="181051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 b="1">
                <a:solidFill>
                  <a:srgbClr val="1864AB"/>
                </a:solidFill>
                <a:latin typeface="Aptos"/>
              </a:rPr>
              <a:t>Guardrail notes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4846320" y="2267712"/>
            <a:ext cx="2286000" cy="3108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400" b="0">
                <a:solidFill>
                  <a:srgbClr val="242424"/>
                </a:solidFill>
                <a:latin typeface="Aptos"/>
              </a:rPr>
              <a:t>Limit objectives</a:t>
            </a:r>
          </a:p>
          <a:p>
            <a:pPr algn="l"/>
            <a:r>
              <a:rPr lang="en-US" sz="1400" b="0">
                <a:solidFill>
                  <a:srgbClr val="242424"/>
                </a:solidFill>
                <a:latin typeface="Aptos"/>
              </a:rPr>
              <a:t>Avoid endpoint bloat</a:t>
            </a:r>
          </a:p>
          <a:p>
            <a:pPr algn="l"/>
            <a:r>
              <a:rPr lang="en-US" sz="1400" b="0">
                <a:solidFill>
                  <a:srgbClr val="242424"/>
                </a:solidFill>
                <a:latin typeface="Aptos"/>
              </a:rPr>
              <a:t>Make duration explicit</a:t>
            </a:r>
          </a:p>
          <a:p>
            <a:pPr algn="l"/>
            <a:r>
              <a:rPr lang="en-US" sz="1400" b="0">
                <a:solidFill>
                  <a:srgbClr val="242424"/>
                </a:solidFill>
                <a:latin typeface="Aptos"/>
              </a:rPr>
              <a:t>Minimize special assessments</a:t>
            </a:r>
          </a:p>
          <a:p>
            <a:pPr algn="l"/>
            <a:r>
              <a:rPr lang="en-US" sz="1400" b="0">
                <a:solidFill>
                  <a:srgbClr val="242424"/>
                </a:solidFill>
                <a:latin typeface="Aptos"/>
              </a:rPr>
              <a:t>Require justification for PRO, PK/PD, biomarkers</a:t>
            </a:r>
          </a:p>
          <a:p>
            <a:pPr algn="l"/>
            <a:r>
              <a:rPr lang="en-US" sz="1400" b="0">
                <a:solidFill>
                  <a:srgbClr val="242424"/>
                </a:solidFill>
                <a:latin typeface="Aptos"/>
              </a:rPr>
              <a:t>Keep SoA proportionate</a:t>
            </a:r>
          </a:p>
        </p:txBody>
      </p:sp>
      <p:cxnSp>
        <p:nvCxnSpPr>
          <p:cNvPr id="14" name="Connector 14"/>
          <p:cNvCxnSpPr/>
          <p:nvPr/>
        </p:nvCxnSpPr>
        <p:spPr>
          <a:xfrm flipH="0" flipV="0">
            <a:off x="7589520" y="3703320"/>
            <a:ext cx="822960" cy="0"/>
          </a:xfrm>
          <a:prstGeom prst="line">
            <a:avLst/>
          </a:prstGeom>
          <a:ln w="20320">
            <a:solidFill>
              <a:srgbClr val="8A1538"/>
            </a:solidFill>
            <a:headEnd type="triangle"/>
          </a:ln>
        </p:spPr>
      </p:cxnSp>
      <p:sp>
        <p:nvSpPr>
          <p:cNvPr id="15" name="Shape 15"/>
          <p:cNvSpPr/>
          <p:nvPr/>
        </p:nvSpPr>
        <p:spPr>
          <a:xfrm>
            <a:off x="8458200" y="1572768"/>
            <a:ext cx="283464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8686800" y="1810512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 b="1">
                <a:solidFill>
                  <a:srgbClr val="242424"/>
                </a:solidFill>
                <a:latin typeface="Aptos"/>
              </a:rPr>
              <a:t>Action prompt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8686800" y="2267712"/>
            <a:ext cx="2331720" cy="3108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400" b="0">
                <a:solidFill>
                  <a:srgbClr val="242424"/>
                </a:solidFill>
                <a:latin typeface="Aptos"/>
              </a:rPr>
              <a:t>Suggest objectives</a:t>
            </a:r>
          </a:p>
          <a:p>
            <a:pPr algn="l"/>
            <a:r>
              <a:rPr lang="en-US" sz="1400" b="0">
                <a:solidFill>
                  <a:srgbClr val="242424"/>
                </a:solidFill>
                <a:latin typeface="Aptos"/>
              </a:rPr>
              <a:t>Suggest endpoints</a:t>
            </a:r>
          </a:p>
          <a:p>
            <a:pPr algn="l"/>
            <a:r>
              <a:rPr lang="en-US" sz="1400" b="0">
                <a:solidFill>
                  <a:srgbClr val="242424"/>
                </a:solidFill>
                <a:latin typeface="Aptos"/>
              </a:rPr>
              <a:t>Draft population</a:t>
            </a:r>
          </a:p>
          <a:p>
            <a:pPr algn="l"/>
            <a:r>
              <a:rPr lang="en-US" sz="1400" b="0">
                <a:solidFill>
                  <a:srgbClr val="242424"/>
                </a:solidFill>
                <a:latin typeface="Aptos"/>
              </a:rPr>
              <a:t>Extract PICO &amp; stats</a:t>
            </a:r>
          </a:p>
          <a:p>
            <a:pPr algn="l"/>
            <a:r>
              <a:rPr lang="en-US" sz="1400" b="0">
                <a:solidFill>
                  <a:srgbClr val="242424"/>
                </a:solidFill>
                <a:latin typeface="Aptos"/>
              </a:rPr>
              <a:t>Generate schema</a:t>
            </a:r>
          </a:p>
          <a:p>
            <a:pPr algn="l"/>
            <a:r>
              <a:rPr lang="en-US" sz="1400" b="0">
                <a:solidFill>
                  <a:srgbClr val="242424"/>
                </a:solidFill>
                <a:latin typeface="Aptos"/>
              </a:rPr>
              <a:t>Generate SoA</a:t>
            </a:r>
          </a:p>
          <a:p>
            <a:pPr algn="l"/>
            <a:r>
              <a:rPr lang="en-US" sz="1400" b="0">
                <a:solidFill>
                  <a:srgbClr val="242424"/>
                </a:solidFill>
                <a:latin typeface="Aptos"/>
              </a:rPr>
              <a:t>Assess impact</a:t>
            </a:r>
          </a:p>
          <a:p>
            <a:pPr algn="l"/>
            <a:r>
              <a:rPr lang="en-US" sz="1400" b="0">
                <a:solidFill>
                  <a:srgbClr val="242424"/>
                </a:solidFill>
                <a:latin typeface="Aptos"/>
              </a:rPr>
              <a:t>Draft final synopsis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02920" y="29260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00" b="1">
                <a:solidFill>
                  <a:srgbClr val="D71920"/>
                </a:solidFill>
                <a:latin typeface="Aptos"/>
              </a:rPr>
              <a:t>STUDY SYNOPSIS STUDIO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621792"/>
            <a:ext cx="72237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0">
                <a:solidFill>
                  <a:srgbClr val="242424"/>
                </a:solidFill>
                <a:latin typeface="Aptos"/>
              </a:rPr>
              <a:t>Impact assessment is early feedback for iteration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30352" y="112471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200" b="0">
                <a:solidFill>
                  <a:srgbClr val="475569"/>
                </a:solidFill>
                <a:latin typeface="Aptos"/>
              </a:rPr>
              <a:t>It estimates likely evidence impact, then tells the user what to strengthen before moving downstream.</a:t>
            </a:r>
          </a:p>
        </p:txBody>
      </p:sp>
      <p:sp>
        <p:nvSpPr>
          <p:cNvPr id="7" name="Shape 7"/>
          <p:cNvSpPr/>
          <p:nvPr/>
        </p:nvSpPr>
        <p:spPr>
          <a:xfrm>
            <a:off x="777240" y="1600200"/>
            <a:ext cx="2971800" cy="3611880"/>
          </a:xfrm>
          <a:prstGeom prst="roundRect">
            <a:avLst/>
          </a:prstGeom>
          <a:solidFill>
            <a:srgbClr val="E7F5FF"/>
          </a:solidFill>
          <a:ln w="15240">
            <a:solidFill>
              <a:srgbClr val="1864AB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1005840" y="182880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 b="1">
                <a:solidFill>
                  <a:srgbClr val="1864AB"/>
                </a:solidFill>
                <a:latin typeface="Aptos"/>
              </a:rPr>
              <a:t>Essential inputs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005840" y="2267712"/>
            <a:ext cx="2514600" cy="2468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0">
                <a:solidFill>
                  <a:srgbClr val="242424"/>
                </a:solidFill>
                <a:latin typeface="Aptos"/>
              </a:rPr>
              <a:t>Primary aim</a:t>
            </a:r>
          </a:p>
          <a:p>
            <a:pPr algn="l"/>
            <a:r>
              <a:rPr lang="en-US" sz="1500" b="0">
                <a:solidFill>
                  <a:srgbClr val="242424"/>
                </a:solidFill>
                <a:latin typeface="Aptos"/>
              </a:rPr>
              <a:t>Study type</a:t>
            </a:r>
          </a:p>
          <a:p>
            <a:pPr algn="l"/>
            <a:r>
              <a:rPr lang="en-US" sz="1500" b="0">
                <a:solidFill>
                  <a:srgbClr val="242424"/>
                </a:solidFill>
                <a:latin typeface="Aptos"/>
              </a:rPr>
              <a:t>Disease/topic</a:t>
            </a:r>
          </a:p>
          <a:p>
            <a:pPr algn="l"/>
            <a:r>
              <a:rPr lang="en-US" sz="1500" b="0">
                <a:solidFill>
                  <a:srgbClr val="242424"/>
                </a:solidFill>
                <a:latin typeface="Aptos"/>
              </a:rPr>
              <a:t>Intervention/exposure</a:t>
            </a:r>
          </a:p>
          <a:p>
            <a:pPr algn="l"/>
            <a:r>
              <a:rPr lang="en-US" sz="1500" b="0">
                <a:solidFill>
                  <a:srgbClr val="242424"/>
                </a:solidFill>
                <a:latin typeface="Aptos"/>
              </a:rPr>
              <a:t>Primary objective</a:t>
            </a:r>
          </a:p>
        </p:txBody>
      </p:sp>
      <p:cxnSp>
        <p:nvCxnSpPr>
          <p:cNvPr id="10" name="Connector 10"/>
          <p:cNvCxnSpPr/>
          <p:nvPr/>
        </p:nvCxnSpPr>
        <p:spPr>
          <a:xfrm flipH="0" flipV="0">
            <a:off x="3977639" y="3401568"/>
            <a:ext cx="822961" cy="0"/>
          </a:xfrm>
          <a:prstGeom prst="line">
            <a:avLst/>
          </a:prstGeom>
          <a:ln w="20320">
            <a:solidFill>
              <a:srgbClr val="1864AB"/>
            </a:solidFill>
            <a:headEnd type="triangle"/>
          </a:ln>
        </p:spPr>
      </p:cxnSp>
      <p:sp>
        <p:nvSpPr>
          <p:cNvPr id="11" name="Shape 11"/>
          <p:cNvSpPr/>
          <p:nvPr/>
        </p:nvSpPr>
        <p:spPr>
          <a:xfrm>
            <a:off x="4983480" y="1600200"/>
            <a:ext cx="2194560" cy="3611880"/>
          </a:xfrm>
          <a:prstGeom prst="roundRect">
            <a:avLst/>
          </a:prstGeom>
          <a:solidFill>
            <a:srgbClr val="FFF7F7"/>
          </a:solidFill>
          <a:ln w="15240">
            <a:solidFill>
              <a:srgbClr val="D71920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5193792" y="182880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700" b="1">
                <a:solidFill>
                  <a:srgbClr val="D71920"/>
                </a:solidFill>
                <a:latin typeface="Aptos"/>
              </a:rPr>
              <a:t>Scored domains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5193792" y="2267712"/>
            <a:ext cx="1737360" cy="24231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700" b="1">
                <a:solidFill>
                  <a:srgbClr val="242424"/>
                </a:solidFill>
                <a:latin typeface="Aptos"/>
              </a:rPr>
              <a:t>Guideline</a:t>
            </a:r>
          </a:p>
          <a:p>
            <a:pPr algn="ctr"/>
            <a:r>
              <a:rPr lang="en-US" sz="1700" b="1">
                <a:solidFill>
                  <a:srgbClr val="242424"/>
                </a:solidFill>
                <a:latin typeface="Aptos"/>
              </a:rPr>
              <a:t>Label</a:t>
            </a:r>
          </a:p>
          <a:p>
            <a:pPr algn="ctr"/>
            <a:r>
              <a:rPr lang="en-US" sz="1700" b="1">
                <a:solidFill>
                  <a:srgbClr val="242424"/>
                </a:solidFill>
                <a:latin typeface="Aptos"/>
              </a:rPr>
              <a:t>Publication</a:t>
            </a:r>
          </a:p>
          <a:p>
            <a:pPr algn="ctr"/>
            <a:r>
              <a:rPr lang="en-US" sz="1700" b="1">
                <a:solidFill>
                  <a:srgbClr val="242424"/>
                </a:solidFill>
                <a:latin typeface="Aptos"/>
              </a:rPr>
              <a:t>Practice</a:t>
            </a:r>
          </a:p>
          <a:p>
            <a:pPr algn="ctr"/>
            <a:r>
              <a:rPr lang="en-US" sz="1700" b="1">
                <a:solidFill>
                  <a:srgbClr val="242424"/>
                </a:solidFill>
                <a:latin typeface="Aptos"/>
              </a:rPr>
              <a:t>HTA</a:t>
            </a:r>
          </a:p>
        </p:txBody>
      </p:sp>
      <p:cxnSp>
        <p:nvCxnSpPr>
          <p:cNvPr id="14" name="Connector 14"/>
          <p:cNvCxnSpPr/>
          <p:nvPr/>
        </p:nvCxnSpPr>
        <p:spPr>
          <a:xfrm flipH="0" flipV="0">
            <a:off x="7360920" y="3401568"/>
            <a:ext cx="822960" cy="0"/>
          </a:xfrm>
          <a:prstGeom prst="line">
            <a:avLst/>
          </a:prstGeom>
          <a:ln w="20320">
            <a:solidFill>
              <a:srgbClr val="8A1538"/>
            </a:solidFill>
            <a:headEnd type="triangle"/>
          </a:ln>
        </p:spPr>
      </p:cxnSp>
      <p:sp>
        <p:nvSpPr>
          <p:cNvPr id="15" name="Shape 15"/>
          <p:cNvSpPr/>
          <p:nvPr/>
        </p:nvSpPr>
        <p:spPr>
          <a:xfrm>
            <a:off x="8366760" y="1600200"/>
            <a:ext cx="2971800" cy="3611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8595360" y="182880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 b="1">
                <a:solidFill>
                  <a:srgbClr val="242424"/>
                </a:solidFill>
                <a:latin typeface="Aptos"/>
              </a:rPr>
              <a:t>Output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8595360" y="2267712"/>
            <a:ext cx="2514600" cy="2514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0">
                <a:solidFill>
                  <a:srgbClr val="242424"/>
                </a:solidFill>
                <a:latin typeface="Aptos"/>
              </a:rPr>
              <a:t>Impact level</a:t>
            </a:r>
          </a:p>
          <a:p>
            <a:pPr algn="l"/>
            <a:r>
              <a:rPr lang="en-US" sz="1500" b="0">
                <a:solidFill>
                  <a:srgbClr val="242424"/>
                </a:solidFill>
                <a:latin typeface="Aptos"/>
              </a:rPr>
              <a:t>Rationale</a:t>
            </a:r>
          </a:p>
          <a:p>
            <a:pPr algn="l"/>
            <a:r>
              <a:rPr lang="en-US" sz="1500" b="0">
                <a:solidFill>
                  <a:srgbClr val="242424"/>
                </a:solidFill>
                <a:latin typeface="Aptos"/>
              </a:rPr>
              <a:t>Blockers</a:t>
            </a:r>
          </a:p>
          <a:p>
            <a:pPr algn="l"/>
            <a:r>
              <a:rPr lang="en-US" sz="1500" b="0">
                <a:solidFill>
                  <a:srgbClr val="242424"/>
                </a:solidFill>
                <a:latin typeface="Aptos"/>
              </a:rPr>
              <a:t>Strengthen actions</a:t>
            </a:r>
          </a:p>
          <a:p>
            <a:pPr algn="l"/>
            <a:r>
              <a:rPr lang="en-US" sz="1500" b="0">
                <a:solidFill>
                  <a:srgbClr val="242424"/>
                </a:solidFill>
                <a:latin typeface="Aptos"/>
              </a:rPr>
              <a:t>Guardrail-informed simplification prompts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051560" y="5669280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500" b="1">
                <a:solidFill>
                  <a:srgbClr val="8A1538"/>
                </a:solidFill>
                <a:latin typeface="Aptos"/>
              </a:rPr>
              <a:t>The assessment is not a prediction. It is a design pressure-test that helps users refine intent, comparator, endpoints, and burden.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02920" y="29260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00" b="1">
                <a:solidFill>
                  <a:srgbClr val="D71920"/>
                </a:solidFill>
                <a:latin typeface="Aptos"/>
              </a:rPr>
              <a:t>STUDY SYNOPSIS STUDIO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621792"/>
            <a:ext cx="72237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0">
                <a:solidFill>
                  <a:srgbClr val="242424"/>
                </a:solidFill>
                <a:latin typeface="Aptos"/>
              </a:rPr>
              <a:t>Final design principle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30352" y="112471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200" b="0">
                <a:solidFill>
                  <a:srgbClr val="475569"/>
                </a:solidFill>
                <a:latin typeface="Aptos"/>
              </a:rPr>
              <a:t>Keep the researcher workflow simple while making the AI more disciplined.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31520" y="1783080"/>
            <a:ext cx="4023360" cy="2377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3400" b="1">
                <a:solidFill>
                  <a:srgbClr val="D71920"/>
                </a:solidFill>
                <a:latin typeface="Aptos"/>
              </a:rPr>
              <a:t>Ask fewer questions upfront.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5074920" y="1783080"/>
            <a:ext cx="6035040" cy="23774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3400" b="1">
                <a:solidFill>
                  <a:srgbClr val="242424"/>
                </a:solidFill>
                <a:latin typeface="Aptos"/>
              </a:rPr>
              <a:t>Use the answers to constrain everything downstream.</a:t>
            </a:r>
          </a:p>
        </p:txBody>
      </p:sp>
      <p:cxnSp>
        <p:nvCxnSpPr>
          <p:cNvPr id="9" name="Connector 9"/>
          <p:cNvCxnSpPr/>
          <p:nvPr/>
        </p:nvCxnSpPr>
        <p:spPr>
          <a:xfrm flipH="0" flipV="0">
            <a:off x="777240" y="4389120"/>
            <a:ext cx="10698479" cy="0"/>
          </a:xfrm>
          <a:prstGeom prst="line">
            <a:avLst/>
          </a:prstGeom>
          <a:ln w="12700">
            <a:solidFill>
              <a:srgbClr val="E5E7EB"/>
            </a:solidFill>
          </a:ln>
        </p:spPr>
      </p:cxnSp>
      <p:sp>
        <p:nvSpPr>
          <p:cNvPr id="10" name="Text 10"/>
          <p:cNvSpPr txBox="1"/>
          <p:nvPr/>
        </p:nvSpPr>
        <p:spPr>
          <a:xfrm>
            <a:off x="868680" y="4800600"/>
            <a:ext cx="10332720" cy="6583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800" b="0">
                <a:solidFill>
                  <a:srgbClr val="475569"/>
                </a:solidFill>
                <a:latin typeface="Aptos"/>
              </a:rPr>
              <a:t>The app should feel like a guided study-design assistant, not a protocol template form. Guardrails should appear as feedback, AI prompts, and simplification options at the moment they matter.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dy Synopsis">
  <a:themeElements>
    <a:clrScheme name="Custom">
      <a:dk1>
        <a:srgbClr val="242424"/>
      </a:dk1>
      <a:lt1>
        <a:srgbClr val="FFFFFF"/>
      </a:lt1>
      <a:dk2>
        <a:srgbClr val="475569"/>
      </a:dk2>
      <a:lt2>
        <a:srgbClr val="F8FAFC"/>
      </a:lt2>
      <a:accent1>
        <a:srgbClr val="D71920"/>
      </a:accent1>
      <a:accent2>
        <a:srgbClr val="1864AB"/>
      </a:accent2>
      <a:accent3>
        <a:srgbClr val="8A1538"/>
      </a:accent3>
      <a:accent4>
        <a:srgbClr val="E5E7EB"/>
      </a:accent4>
      <a:accent5>
        <a:srgbClr val="FDECEC"/>
      </a:accent5>
      <a:accent6>
        <a:srgbClr val="E7F5FF"/>
      </a:accent6>
      <a:hlink>
        <a:srgbClr val="1864AB"/>
      </a:hlink>
      <a:folHlink>
        <a:srgbClr val="8A1538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Defaul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 Synopsis Studio logic</dc:title>
  <dc:creator>Codex</dc:creator>
  <cp:lastModifiedBy>Codex</cp:lastModifiedBy>
  <dcterms:created xsi:type="dcterms:W3CDTF">2026-04-28T13:26:42.286296+00:00</dcterms:created>
  <dcterms:modified xsi:type="dcterms:W3CDTF">2026-04-28T13:26:42.286296+00:00</dcterms:modified>
</cp:coreProperties>
</file>