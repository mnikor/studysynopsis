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1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<Relationship Id="rId11" Type="http://schemas.openxmlformats.org/officeDocument/2006/relationships/slideMaster" Target="slideMasters/slideMaster1.xml"/><Relationship Id="rId12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Icotrokinra example: how PED guardrails shape AI suggestions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Illustrative study-design walkthrough using a psoriasis concept: icotrokinra versus risankizumab, focused endpoints, streamlined data collection, and impact feedback.</a:t>
            </a:r>
          </a:p>
        </p:txBody>
      </p:sp>
      <p:sp>
        <p:nvSpPr>
          <p:cNvPr id="7" name="Shape 7"/>
          <p:cNvSpPr/>
          <p:nvPr/>
        </p:nvSpPr>
        <p:spPr>
          <a:xfrm>
            <a:off x="594360" y="1783080"/>
            <a:ext cx="4709160" cy="1920240"/>
          </a:xfrm>
          <a:prstGeom prst="roundRect">
            <a:avLst/>
          </a:prstGeom>
          <a:solidFill>
            <a:srgbClr val="FFF7F7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896112" y="2084831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3200" b="1">
                <a:solidFill>
                  <a:srgbClr val="D71920"/>
                </a:solidFill>
                <a:latin typeface="Aptos"/>
              </a:rPr>
              <a:t>Example study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2852928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242424"/>
                </a:solidFill>
                <a:latin typeface="Aptos"/>
              </a:rPr>
              <a:t>Moderate-to-severe plaque psoriasis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5440680" y="2743200"/>
            <a:ext cx="1005840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6629400" y="1691640"/>
            <a:ext cx="434340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6903720" y="196596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800" b="1">
                <a:solidFill>
                  <a:srgbClr val="242424"/>
                </a:solidFill>
                <a:latin typeface="Aptos"/>
              </a:rPr>
              <a:t>What AI is asked to do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903720" y="2487168"/>
            <a:ext cx="3794760" cy="8412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600" b="0">
                <a:solidFill>
                  <a:srgbClr val="475569"/>
                </a:solidFill>
                <a:latin typeface="Aptos"/>
              </a:rPr>
              <a:t>Translate the study intent into focused objectives, endpoints, SoA logic, and an evidence-impact view under PED-style discipline.</a:t>
            </a:r>
          </a:p>
        </p:txBody>
      </p:sp>
      <p:sp>
        <p:nvSpPr>
          <p:cNvPr id="14" name="Shape 14"/>
          <p:cNvSpPr/>
          <p:nvPr/>
        </p:nvSpPr>
        <p:spPr>
          <a:xfrm>
            <a:off x="914400" y="4526280"/>
            <a:ext cx="2057400" cy="384048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D71920"/>
                </a:solidFill>
                <a:latin typeface="Aptos"/>
              </a:rPr>
              <a:t>Icotrokinra</a:t>
            </a:r>
          </a:p>
        </p:txBody>
      </p:sp>
      <p:sp>
        <p:nvSpPr>
          <p:cNvPr id="15" name="Shape 15"/>
          <p:cNvSpPr/>
          <p:nvPr/>
        </p:nvSpPr>
        <p:spPr>
          <a:xfrm>
            <a:off x="3246120" y="4526280"/>
            <a:ext cx="2057400" cy="3840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242424"/>
                </a:solidFill>
                <a:latin typeface="Aptos"/>
              </a:rPr>
              <a:t>Risankizumab comparator</a:t>
            </a:r>
          </a:p>
        </p:txBody>
      </p:sp>
      <p:sp>
        <p:nvSpPr>
          <p:cNvPr id="16" name="Shape 16"/>
          <p:cNvSpPr/>
          <p:nvPr/>
        </p:nvSpPr>
        <p:spPr>
          <a:xfrm>
            <a:off x="5577840" y="4526280"/>
            <a:ext cx="1828800" cy="384048"/>
          </a:xfrm>
          <a:prstGeom prst="roundRect">
            <a:avLst/>
          </a:prstGeom>
          <a:solidFill>
            <a:srgbClr val="E7F5FF"/>
          </a:solidFill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1864AB"/>
                </a:solidFill>
                <a:latin typeface="Aptos"/>
              </a:rPr>
              <a:t>PASI 90</a:t>
            </a:r>
          </a:p>
        </p:txBody>
      </p:sp>
      <p:sp>
        <p:nvSpPr>
          <p:cNvPr id="17" name="Shape 17"/>
          <p:cNvSpPr/>
          <p:nvPr/>
        </p:nvSpPr>
        <p:spPr>
          <a:xfrm>
            <a:off x="7680960" y="4526280"/>
            <a:ext cx="2057400" cy="38404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242424"/>
                </a:solidFill>
                <a:latin typeface="Aptos"/>
              </a:rPr>
              <a:t>52-week follow-up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31520" y="580644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b="0">
                <a:solidFill>
                  <a:srgbClr val="475569"/>
                </a:solidFill>
                <a:latin typeface="Aptos"/>
              </a:rPr>
              <a:t>Example only: content is generated to demonstrate app logic and should be reviewed by clinical, statistics, and regulatory experts before use.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Starting inputs in Tab 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user provides just enough concept detail for AI to make proportionate suggestions.</a:t>
            </a:r>
          </a:p>
        </p:txBody>
      </p:sp>
      <p:sp>
        <p:nvSpPr>
          <p:cNvPr id="7" name="Shape 7"/>
          <p:cNvSpPr/>
          <p:nvPr/>
        </p:nvSpPr>
        <p:spPr>
          <a:xfrm>
            <a:off x="640080" y="1572768"/>
            <a:ext cx="3642359" cy="531495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685800" y="160934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Input</a:t>
            </a:r>
          </a:p>
        </p:txBody>
      </p:sp>
      <p:sp>
        <p:nvSpPr>
          <p:cNvPr id="9" name="Shape 9"/>
          <p:cNvSpPr/>
          <p:nvPr/>
        </p:nvSpPr>
        <p:spPr>
          <a:xfrm>
            <a:off x="4282439" y="1572768"/>
            <a:ext cx="3642359" cy="531495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328159" y="160934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Example value</a:t>
            </a:r>
          </a:p>
        </p:txBody>
      </p:sp>
      <p:sp>
        <p:nvSpPr>
          <p:cNvPr id="11" name="Shape 11"/>
          <p:cNvSpPr/>
          <p:nvPr/>
        </p:nvSpPr>
        <p:spPr>
          <a:xfrm>
            <a:off x="7924799" y="1572768"/>
            <a:ext cx="3642359" cy="531495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970520" y="160934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Why it matters</a:t>
            </a:r>
          </a:p>
        </p:txBody>
      </p:sp>
      <p:sp>
        <p:nvSpPr>
          <p:cNvPr id="13" name="Shape 13"/>
          <p:cNvSpPr/>
          <p:nvPr/>
        </p:nvSpPr>
        <p:spPr>
          <a:xfrm>
            <a:off x="640080" y="210426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685800" y="214083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Research category</a:t>
            </a:r>
          </a:p>
        </p:txBody>
      </p:sp>
      <p:sp>
        <p:nvSpPr>
          <p:cNvPr id="15" name="Shape 15"/>
          <p:cNvSpPr/>
          <p:nvPr/>
        </p:nvSpPr>
        <p:spPr>
          <a:xfrm>
            <a:off x="4282439" y="210426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328159" y="214083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Interventional</a:t>
            </a:r>
          </a:p>
        </p:txBody>
      </p:sp>
      <p:sp>
        <p:nvSpPr>
          <p:cNvPr id="17" name="Shape 17"/>
          <p:cNvSpPr/>
          <p:nvPr/>
        </p:nvSpPr>
        <p:spPr>
          <a:xfrm>
            <a:off x="7924799" y="210426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970520" y="214083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Enables study design, PICO, SoA, stats, and guardrail checks</a:t>
            </a:r>
          </a:p>
        </p:txBody>
      </p:sp>
      <p:sp>
        <p:nvSpPr>
          <p:cNvPr id="19" name="Shape 19"/>
          <p:cNvSpPr/>
          <p:nvPr/>
        </p:nvSpPr>
        <p:spPr>
          <a:xfrm>
            <a:off x="640080" y="263575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685800" y="267233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Development stage</a:t>
            </a:r>
          </a:p>
        </p:txBody>
      </p:sp>
      <p:sp>
        <p:nvSpPr>
          <p:cNvPr id="21" name="Shape 21"/>
          <p:cNvSpPr/>
          <p:nvPr/>
        </p:nvSpPr>
        <p:spPr>
          <a:xfrm>
            <a:off x="4282439" y="263575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328159" y="267233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Phase 3 / late-stage or post-marketing</a:t>
            </a:r>
          </a:p>
        </p:txBody>
      </p:sp>
      <p:sp>
        <p:nvSpPr>
          <p:cNvPr id="23" name="Shape 23"/>
          <p:cNvSpPr/>
          <p:nvPr/>
        </p:nvSpPr>
        <p:spPr>
          <a:xfrm>
            <a:off x="7924799" y="263575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970520" y="267233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Makes PED-style practice-informing discipline relevant</a:t>
            </a:r>
          </a:p>
        </p:txBody>
      </p:sp>
      <p:sp>
        <p:nvSpPr>
          <p:cNvPr id="25" name="Shape 25"/>
          <p:cNvSpPr/>
          <p:nvPr/>
        </p:nvSpPr>
        <p:spPr>
          <a:xfrm>
            <a:off x="640080" y="316725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685800" y="320382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Primary aim</a:t>
            </a:r>
          </a:p>
        </p:txBody>
      </p:sp>
      <p:sp>
        <p:nvSpPr>
          <p:cNvPr id="27" name="Shape 27"/>
          <p:cNvSpPr/>
          <p:nvPr/>
        </p:nvSpPr>
        <p:spPr>
          <a:xfrm>
            <a:off x="4282439" y="316725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328159" y="320382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Inform clinical practice or support HTA/access</a:t>
            </a:r>
          </a:p>
        </p:txBody>
      </p:sp>
      <p:sp>
        <p:nvSpPr>
          <p:cNvPr id="29" name="Shape 29"/>
          <p:cNvSpPr/>
          <p:nvPr/>
        </p:nvSpPr>
        <p:spPr>
          <a:xfrm>
            <a:off x="7924799" y="316725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7970520" y="320382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Drives evidence destination and AI constraints</a:t>
            </a:r>
          </a:p>
        </p:txBody>
      </p:sp>
      <p:sp>
        <p:nvSpPr>
          <p:cNvPr id="31" name="Shape 31"/>
          <p:cNvSpPr/>
          <p:nvPr/>
        </p:nvSpPr>
        <p:spPr>
          <a:xfrm>
            <a:off x="640080" y="369874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685800" y="373532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Disease</a:t>
            </a:r>
          </a:p>
        </p:txBody>
      </p:sp>
      <p:sp>
        <p:nvSpPr>
          <p:cNvPr id="33" name="Shape 33"/>
          <p:cNvSpPr/>
          <p:nvPr/>
        </p:nvSpPr>
        <p:spPr>
          <a:xfrm>
            <a:off x="4282439" y="369874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4328159" y="373532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Moderate-to-severe plaque psoriasis</a:t>
            </a:r>
          </a:p>
        </p:txBody>
      </p:sp>
      <p:sp>
        <p:nvSpPr>
          <p:cNvPr id="35" name="Shape 35"/>
          <p:cNvSpPr/>
          <p:nvPr/>
        </p:nvSpPr>
        <p:spPr>
          <a:xfrm>
            <a:off x="7924799" y="369874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970520" y="373532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Anchors population and endpoint library</a:t>
            </a:r>
          </a:p>
        </p:txBody>
      </p:sp>
      <p:sp>
        <p:nvSpPr>
          <p:cNvPr id="37" name="Shape 37"/>
          <p:cNvSpPr/>
          <p:nvPr/>
        </p:nvSpPr>
        <p:spPr>
          <a:xfrm>
            <a:off x="640080" y="423024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685800" y="426681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Intervention</a:t>
            </a:r>
          </a:p>
        </p:txBody>
      </p:sp>
      <p:sp>
        <p:nvSpPr>
          <p:cNvPr id="39" name="Shape 39"/>
          <p:cNvSpPr/>
          <p:nvPr/>
        </p:nvSpPr>
        <p:spPr>
          <a:xfrm>
            <a:off x="4282439" y="423024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4328159" y="426681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Icotrokinra</a:t>
            </a:r>
          </a:p>
        </p:txBody>
      </p:sp>
      <p:sp>
        <p:nvSpPr>
          <p:cNvPr id="41" name="Shape 41"/>
          <p:cNvSpPr/>
          <p:nvPr/>
        </p:nvSpPr>
        <p:spPr>
          <a:xfrm>
            <a:off x="7924799" y="423024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970520" y="426681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Names the experimental intervention across objectives and schema</a:t>
            </a:r>
          </a:p>
        </p:txBody>
      </p:sp>
      <p:sp>
        <p:nvSpPr>
          <p:cNvPr id="43" name="Shape 43"/>
          <p:cNvSpPr/>
          <p:nvPr/>
        </p:nvSpPr>
        <p:spPr>
          <a:xfrm>
            <a:off x="640080" y="476173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685800" y="479831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Comparator</a:t>
            </a:r>
          </a:p>
        </p:txBody>
      </p:sp>
      <p:sp>
        <p:nvSpPr>
          <p:cNvPr id="45" name="Shape 45"/>
          <p:cNvSpPr/>
          <p:nvPr/>
        </p:nvSpPr>
        <p:spPr>
          <a:xfrm>
            <a:off x="4282439" y="476173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4328159" y="479831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Risankizumab</a:t>
            </a:r>
          </a:p>
        </p:txBody>
      </p:sp>
      <p:sp>
        <p:nvSpPr>
          <p:cNvPr id="47" name="Shape 47"/>
          <p:cNvSpPr/>
          <p:nvPr/>
        </p:nvSpPr>
        <p:spPr>
          <a:xfrm>
            <a:off x="7924799" y="4761738"/>
            <a:ext cx="3642359" cy="531495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7970520" y="4798314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Forces comparative framing and endpoint rigor</a:t>
            </a:r>
          </a:p>
        </p:txBody>
      </p:sp>
      <p:sp>
        <p:nvSpPr>
          <p:cNvPr id="49" name="Shape 49"/>
          <p:cNvSpPr/>
          <p:nvPr/>
        </p:nvSpPr>
        <p:spPr>
          <a:xfrm>
            <a:off x="640080" y="529323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685800" y="532980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Planning</a:t>
            </a:r>
          </a:p>
        </p:txBody>
      </p:sp>
      <p:sp>
        <p:nvSpPr>
          <p:cNvPr id="51" name="Shape 51"/>
          <p:cNvSpPr/>
          <p:nvPr/>
        </p:nvSpPr>
        <p:spPr>
          <a:xfrm>
            <a:off x="4282439" y="529323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52" name="Text 52"/>
          <p:cNvSpPr txBox="1"/>
          <p:nvPr/>
        </p:nvSpPr>
        <p:spPr>
          <a:xfrm>
            <a:off x="4328159" y="532980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~450 participants; 52-week treatment/follow-up</a:t>
            </a:r>
          </a:p>
        </p:txBody>
      </p:sp>
      <p:sp>
        <p:nvSpPr>
          <p:cNvPr id="53" name="Shape 53"/>
          <p:cNvSpPr/>
          <p:nvPr/>
        </p:nvSpPr>
        <p:spPr>
          <a:xfrm>
            <a:off x="7924799" y="5293233"/>
            <a:ext cx="3642359" cy="531495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54" name="Text 54"/>
          <p:cNvSpPr txBox="1"/>
          <p:nvPr/>
        </p:nvSpPr>
        <p:spPr>
          <a:xfrm>
            <a:off x="7970520" y="5329809"/>
            <a:ext cx="3550919" cy="45834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Supports sample-size and duration checks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Primary intent determines the guardrail path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same study can be shaped differently depending on the declared evidentiary destination.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600200"/>
            <a:ext cx="3017520" cy="1143000"/>
          </a:xfrm>
          <a:prstGeom prst="roundRect">
            <a:avLst/>
          </a:prstGeom>
          <a:solidFill>
            <a:srgbClr val="E7F5FF"/>
          </a:solidFill>
          <a:ln w="15240">
            <a:solidFill>
              <a:srgbClr val="1864A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60120" y="1874519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1864AB"/>
                </a:solidFill>
                <a:latin typeface="Aptos"/>
              </a:rPr>
              <a:t>Primary aim selected</a:t>
            </a:r>
          </a:p>
        </p:txBody>
      </p:sp>
      <p:cxnSp>
        <p:nvCxnSpPr>
          <p:cNvPr id="9" name="Connector 9"/>
          <p:cNvCxnSpPr/>
          <p:nvPr/>
        </p:nvCxnSpPr>
        <p:spPr>
          <a:xfrm flipH="0" flipV="0">
            <a:off x="3840480" y="2176272"/>
            <a:ext cx="868680" cy="0"/>
          </a:xfrm>
          <a:prstGeom prst="line">
            <a:avLst/>
          </a:prstGeom>
          <a:ln w="20320">
            <a:solidFill>
              <a:srgbClr val="1864AB"/>
            </a:solidFill>
            <a:headEnd type="triangle"/>
          </a:ln>
        </p:spPr>
      </p:cxnSp>
      <p:sp>
        <p:nvSpPr>
          <p:cNvPr id="10" name="Shape 10"/>
          <p:cNvSpPr/>
          <p:nvPr/>
        </p:nvSpPr>
        <p:spPr>
          <a:xfrm>
            <a:off x="4846320" y="1325880"/>
            <a:ext cx="2743200" cy="1691640"/>
          </a:xfrm>
          <a:prstGeom prst="roundRect">
            <a:avLst/>
          </a:prstGeom>
          <a:solidFill>
            <a:srgbClr val="FFF7F7"/>
          </a:solidFill>
          <a:ln w="15240">
            <a:solidFill>
              <a:srgbClr val="D7192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5074920" y="1600200"/>
            <a:ext cx="228600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D71920"/>
                </a:solidFill>
                <a:latin typeface="Aptos"/>
              </a:rPr>
              <a:t>Inform practice / guidelines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074920" y="21762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b="0">
                <a:solidFill>
                  <a:srgbClr val="475569"/>
                </a:solidFill>
                <a:latin typeface="Aptos"/>
              </a:rPr>
              <a:t>PED-style guardrails</a:t>
            </a:r>
          </a:p>
        </p:txBody>
      </p:sp>
      <p:cxnSp>
        <p:nvCxnSpPr>
          <p:cNvPr id="13" name="Connector 13"/>
          <p:cNvCxnSpPr/>
          <p:nvPr/>
        </p:nvCxnSpPr>
        <p:spPr>
          <a:xfrm flipH="0" flipV="0">
            <a:off x="7726679" y="2176272"/>
            <a:ext cx="868680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4" name="Shape 14"/>
          <p:cNvSpPr/>
          <p:nvPr/>
        </p:nvSpPr>
        <p:spPr>
          <a:xfrm>
            <a:off x="8732520" y="1325880"/>
            <a:ext cx="2697480" cy="169164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979408" y="1600200"/>
            <a:ext cx="219456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D71920"/>
                </a:solidFill>
                <a:latin typeface="Aptos"/>
              </a:rPr>
              <a:t>Focused clinical evidence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979408" y="217627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b="0">
                <a:solidFill>
                  <a:srgbClr val="475569"/>
                </a:solidFill>
                <a:latin typeface="Aptos"/>
              </a:rPr>
              <a:t>No endpoint bloat</a:t>
            </a:r>
          </a:p>
        </p:txBody>
      </p:sp>
      <p:sp>
        <p:nvSpPr>
          <p:cNvPr id="17" name="Shape 17"/>
          <p:cNvSpPr/>
          <p:nvPr/>
        </p:nvSpPr>
        <p:spPr>
          <a:xfrm>
            <a:off x="4846320" y="3657600"/>
            <a:ext cx="2743200" cy="1234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5074920" y="3913632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HTA/access intent</a:t>
            </a:r>
          </a:p>
        </p:txBody>
      </p:sp>
      <p:cxnSp>
        <p:nvCxnSpPr>
          <p:cNvPr id="19" name="Connector 19"/>
          <p:cNvCxnSpPr/>
          <p:nvPr/>
        </p:nvCxnSpPr>
        <p:spPr>
          <a:xfrm flipH="0" flipV="0">
            <a:off x="7726679" y="4279392"/>
            <a:ext cx="868680" cy="0"/>
          </a:xfrm>
          <a:prstGeom prst="line">
            <a:avLst/>
          </a:prstGeom>
          <a:ln w="20320">
            <a:solidFill>
              <a:srgbClr val="475569"/>
            </a:solidFill>
            <a:headEnd type="triangle"/>
          </a:ln>
        </p:spPr>
      </p:cxnSp>
      <p:sp>
        <p:nvSpPr>
          <p:cNvPr id="20" name="Shape 20"/>
          <p:cNvSpPr/>
          <p:nvPr/>
        </p:nvSpPr>
        <p:spPr>
          <a:xfrm>
            <a:off x="8732520" y="3520440"/>
            <a:ext cx="2697480" cy="1508760"/>
          </a:xfrm>
          <a:prstGeom prst="roundRect">
            <a:avLst/>
          </a:prstGeom>
          <a:solidFill>
            <a:srgbClr val="E7F5FF"/>
          </a:solidFill>
          <a:ln w="15240">
            <a:solidFill>
              <a:srgbClr val="1864AB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979408" y="3776472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1864AB"/>
                </a:solidFill>
                <a:latin typeface="Aptos"/>
              </a:rPr>
              <a:t>Lean decision-evidence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979408" y="43434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200" b="0">
                <a:solidFill>
                  <a:srgbClr val="475569"/>
                </a:solidFill>
                <a:latin typeface="Aptos"/>
              </a:rPr>
              <a:t>QoL/utilization only if useful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77240" y="571500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8A1538"/>
                </a:solidFill>
                <a:latin typeface="Aptos"/>
              </a:rPr>
              <a:t>For icotrokinra, the app should not write the objective as ‘support HTA’. It should write a testable comparative clinical objective and use HTA/practice intent to shape support endpoints.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PED-style guardrail check for this example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Before AI suggestions are accepted, the app pressure-tests whether the study is becoming too broad.</a:t>
            </a:r>
          </a:p>
        </p:txBody>
      </p:sp>
      <p:sp>
        <p:nvSpPr>
          <p:cNvPr id="7" name="Shape 7"/>
          <p:cNvSpPr/>
          <p:nvPr/>
        </p:nvSpPr>
        <p:spPr>
          <a:xfrm>
            <a:off x="658368" y="1554480"/>
            <a:ext cx="3246120" cy="1207008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59536" y="1719072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D71920"/>
                </a:solidFill>
                <a:latin typeface="Aptos"/>
              </a:rPr>
              <a:t>Stage fit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59536" y="2057400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Phase 3/late-stage or post-marketing concept: aligned if safety data are available.</a:t>
            </a:r>
          </a:p>
        </p:txBody>
      </p:sp>
      <p:sp>
        <p:nvSpPr>
          <p:cNvPr id="10" name="Shape 10"/>
          <p:cNvSpPr/>
          <p:nvPr/>
        </p:nvSpPr>
        <p:spPr>
          <a:xfrm>
            <a:off x="4361688" y="1554480"/>
            <a:ext cx="3246120" cy="1207008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4562855" y="1719072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D71920"/>
                </a:solidFill>
                <a:latin typeface="Aptos"/>
              </a:rPr>
              <a:t>Objective count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562855" y="2057400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Target ≤5 objectives; avoid splitting every readout into a separate objective.</a:t>
            </a:r>
          </a:p>
        </p:txBody>
      </p:sp>
      <p:sp>
        <p:nvSpPr>
          <p:cNvPr id="13" name="Shape 13"/>
          <p:cNvSpPr/>
          <p:nvPr/>
        </p:nvSpPr>
        <p:spPr>
          <a:xfrm>
            <a:off x="8065008" y="1554480"/>
            <a:ext cx="3246120" cy="12070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266176" y="1719072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242424"/>
                </a:solidFill>
                <a:latin typeface="Aptos"/>
              </a:rPr>
              <a:t>Endpoint focus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66176" y="2057400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1 primary endpoint + few key secondary endpoints.</a:t>
            </a:r>
          </a:p>
        </p:txBody>
      </p:sp>
      <p:sp>
        <p:nvSpPr>
          <p:cNvPr id="16" name="Shape 16"/>
          <p:cNvSpPr/>
          <p:nvPr/>
        </p:nvSpPr>
        <p:spPr>
          <a:xfrm>
            <a:off x="658368" y="3127248"/>
            <a:ext cx="3246120" cy="12070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59536" y="3291840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242424"/>
                </a:solidFill>
                <a:latin typeface="Aptos"/>
              </a:rPr>
              <a:t>Special assessments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59536" y="3630168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PRO/COA only if QoL or symptoms matter to decision use.</a:t>
            </a:r>
          </a:p>
        </p:txBody>
      </p:sp>
      <p:sp>
        <p:nvSpPr>
          <p:cNvPr id="19" name="Shape 19"/>
          <p:cNvSpPr/>
          <p:nvPr/>
        </p:nvSpPr>
        <p:spPr>
          <a:xfrm>
            <a:off x="4361688" y="3127248"/>
            <a:ext cx="3246120" cy="1207008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4562855" y="3291840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D71920"/>
                </a:solidFill>
                <a:latin typeface="Aptos"/>
              </a:rPr>
              <a:t>PK/PD + biomarkers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562855" y="3630168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Exclude unless dose, safety, population definition, or stratification requires them.</a:t>
            </a:r>
          </a:p>
        </p:txBody>
      </p:sp>
      <p:sp>
        <p:nvSpPr>
          <p:cNvPr id="22" name="Shape 22"/>
          <p:cNvSpPr/>
          <p:nvPr/>
        </p:nvSpPr>
        <p:spPr>
          <a:xfrm>
            <a:off x="8065008" y="3127248"/>
            <a:ext cx="3246120" cy="120700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8266176" y="3291840"/>
            <a:ext cx="28437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1">
                <a:solidFill>
                  <a:srgbClr val="242424"/>
                </a:solidFill>
                <a:latin typeface="Aptos"/>
              </a:rPr>
              <a:t>SoA burden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266176" y="3630168"/>
            <a:ext cx="28437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475569"/>
                </a:solidFill>
                <a:latin typeface="Aptos"/>
              </a:rPr>
              <a:t>Only visits and assessments needed for endpoints, safety, and feasibility.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Example AI objective proposal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PED guardrails push the wording toward a scientific question, not a strategic slogan.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572768"/>
            <a:ext cx="3108960" cy="438912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14400" y="18288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D71920"/>
                </a:solidFill>
                <a:latin typeface="Aptos"/>
              </a:rPr>
              <a:t>Primary objective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14400" y="2331720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500" b="0">
                <a:solidFill>
                  <a:srgbClr val="242424"/>
                </a:solidFill>
                <a:latin typeface="Aptos"/>
              </a:rPr>
              <a:t>Evaluate whether icotrokinra improves skin clearance versus risankizumab in adults with moderate-to-severe plaque psoriasis by assessing PASI 90 response at Week 16.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914400" y="4709160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Why: clinical, comparative, testable, and aligned to practice/HTA interpretation.</a:t>
            </a:r>
          </a:p>
        </p:txBody>
      </p:sp>
      <p:sp>
        <p:nvSpPr>
          <p:cNvPr id="11" name="Shape 11"/>
          <p:cNvSpPr/>
          <p:nvPr/>
        </p:nvSpPr>
        <p:spPr>
          <a:xfrm>
            <a:off x="4251960" y="1572768"/>
            <a:ext cx="32004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480560" y="18288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242424"/>
                </a:solidFill>
                <a:latin typeface="Aptos"/>
              </a:rPr>
              <a:t>Focused secondary objectives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480560" y="2331720"/>
            <a:ext cx="274320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300" b="0">
                <a:solidFill>
                  <a:srgbClr val="242424"/>
                </a:solidFill>
                <a:latin typeface="Aptos"/>
              </a:rPr>
              <a:t>• Assess depth of skin clearance using PASI 100 and sPGA 0/1 at Week 16.</a:t>
            </a:r>
          </a:p>
          <a:p>
            <a:pPr algn="l"/>
            <a:r>
              <a:rPr lang="en-US" sz="1300" b="0">
                <a:solidFill>
                  <a:srgbClr val="242424"/>
                </a:solidFill>
                <a:latin typeface="Aptos"/>
              </a:rPr>
              <a:t>• Assess durability of response through Week 52.</a:t>
            </a:r>
          </a:p>
          <a:p>
            <a:pPr algn="l"/>
            <a:r>
              <a:rPr lang="en-US" sz="1300" b="0">
                <a:solidFill>
                  <a:srgbClr val="242424"/>
                </a:solidFill>
                <a:latin typeface="Aptos"/>
              </a:rPr>
              <a:t>• Characterize safety and tolerability.</a:t>
            </a:r>
          </a:p>
          <a:p>
            <a:pPr algn="l"/>
            <a:r>
              <a:rPr lang="en-US" sz="1300" b="0">
                <a:solidFill>
                  <a:srgbClr val="242424"/>
                </a:solidFill>
                <a:latin typeface="Aptos"/>
              </a:rPr>
              <a:t>• Assess patient-relevant impact using one QoL measure if needed for HTA/practice use.</a:t>
            </a:r>
          </a:p>
        </p:txBody>
      </p:sp>
      <p:sp>
        <p:nvSpPr>
          <p:cNvPr id="14" name="Shape 14"/>
          <p:cNvSpPr/>
          <p:nvPr/>
        </p:nvSpPr>
        <p:spPr>
          <a:xfrm>
            <a:off x="7909560" y="1572768"/>
            <a:ext cx="3154680" cy="4389120"/>
          </a:xfrm>
          <a:prstGeom prst="roundRect">
            <a:avLst/>
          </a:prstGeom>
          <a:solidFill>
            <a:srgbClr val="FFF7F7"/>
          </a:solidFill>
          <a:ln w="15240">
            <a:solidFill>
              <a:srgbClr val="8A1538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138160" y="182880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700" b="1">
                <a:solidFill>
                  <a:srgbClr val="8A1538"/>
                </a:solidFill>
                <a:latin typeface="Aptos"/>
              </a:rPr>
              <a:t>AI pushback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8138160" y="2331720"/>
            <a:ext cx="2697480" cy="2651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Avoid: ‘Evaluate whether icotrokinra can support HTA or guideline use.’</a:t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/>
            </a:r>
          </a:p>
          <a:p>
            <a:pPr algn="l"/>
            <a:r>
              <a:rPr lang="en-US" sz="1400" b="0">
                <a:solidFill>
                  <a:srgbClr val="242424"/>
                </a:solidFill>
                <a:latin typeface="Aptos"/>
              </a:rPr>
              <a:t>Avoid: too many mechanistic or exploratory objectives unless each is decision-critical.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Example endpoint package AI would propose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app should keep the endpoint package focused enough to answer the research question without data-collection bloat.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572768"/>
            <a:ext cx="3596640" cy="633548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31520" y="1609344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Endpoint role</a:t>
            </a:r>
          </a:p>
        </p:txBody>
      </p:sp>
      <p:sp>
        <p:nvSpPr>
          <p:cNvPr id="9" name="Shape 9"/>
          <p:cNvSpPr/>
          <p:nvPr/>
        </p:nvSpPr>
        <p:spPr>
          <a:xfrm>
            <a:off x="4282440" y="1572768"/>
            <a:ext cx="3596640" cy="633548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328160" y="1609344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Suggested endpoint</a:t>
            </a:r>
          </a:p>
        </p:txBody>
      </p:sp>
      <p:sp>
        <p:nvSpPr>
          <p:cNvPr id="11" name="Shape 11"/>
          <p:cNvSpPr/>
          <p:nvPr/>
        </p:nvSpPr>
        <p:spPr>
          <a:xfrm>
            <a:off x="7879080" y="1572768"/>
            <a:ext cx="3596640" cy="633548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924800" y="1609344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PED rationale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2206316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31520" y="2242892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Primary</a:t>
            </a:r>
          </a:p>
        </p:txBody>
      </p:sp>
      <p:sp>
        <p:nvSpPr>
          <p:cNvPr id="15" name="Shape 15"/>
          <p:cNvSpPr/>
          <p:nvPr/>
        </p:nvSpPr>
        <p:spPr>
          <a:xfrm>
            <a:off x="4282440" y="2206316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328160" y="2242892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PASI 90 response at Week 16</a:t>
            </a:r>
          </a:p>
        </p:txBody>
      </p:sp>
      <p:sp>
        <p:nvSpPr>
          <p:cNvPr id="17" name="Shape 17"/>
          <p:cNvSpPr/>
          <p:nvPr/>
        </p:nvSpPr>
        <p:spPr>
          <a:xfrm>
            <a:off x="7879080" y="2206316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924800" y="2242892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Directly tests comparative skin-clearance objective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839865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31520" y="2876441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Key secondary</a:t>
            </a:r>
          </a:p>
        </p:txBody>
      </p:sp>
      <p:sp>
        <p:nvSpPr>
          <p:cNvPr id="21" name="Shape 21"/>
          <p:cNvSpPr/>
          <p:nvPr/>
        </p:nvSpPr>
        <p:spPr>
          <a:xfrm>
            <a:off x="4282440" y="2839865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328160" y="2876441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PASI 100 and/or sPGA 0/1 at Week 16</a:t>
            </a:r>
          </a:p>
        </p:txBody>
      </p:sp>
      <p:sp>
        <p:nvSpPr>
          <p:cNvPr id="23" name="Shape 23"/>
          <p:cNvSpPr/>
          <p:nvPr/>
        </p:nvSpPr>
        <p:spPr>
          <a:xfrm>
            <a:off x="7879080" y="2839865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924800" y="2876441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Depth of response; keep as limited key support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473413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731520" y="3509989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Key secondary</a:t>
            </a:r>
          </a:p>
        </p:txBody>
      </p:sp>
      <p:sp>
        <p:nvSpPr>
          <p:cNvPr id="27" name="Shape 27"/>
          <p:cNvSpPr/>
          <p:nvPr/>
        </p:nvSpPr>
        <p:spPr>
          <a:xfrm>
            <a:off x="4282440" y="3473413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328160" y="3509989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Durability of PASI 90 through Week 52</a:t>
            </a:r>
          </a:p>
        </p:txBody>
      </p:sp>
      <p:sp>
        <p:nvSpPr>
          <p:cNvPr id="29" name="Shape 29"/>
          <p:cNvSpPr/>
          <p:nvPr/>
        </p:nvSpPr>
        <p:spPr>
          <a:xfrm>
            <a:off x="7879080" y="3473413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7924800" y="3509989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Supports practice interpretation over time</a:t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4106962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31520" y="4143538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Safety</a:t>
            </a:r>
          </a:p>
        </p:txBody>
      </p:sp>
      <p:sp>
        <p:nvSpPr>
          <p:cNvPr id="33" name="Shape 33"/>
          <p:cNvSpPr/>
          <p:nvPr/>
        </p:nvSpPr>
        <p:spPr>
          <a:xfrm>
            <a:off x="4282440" y="4106962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4328160" y="4143538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Treatment-emergent AEs, serious AEs, discontinuations</a:t>
            </a:r>
          </a:p>
        </p:txBody>
      </p:sp>
      <p:sp>
        <p:nvSpPr>
          <p:cNvPr id="35" name="Shape 35"/>
          <p:cNvSpPr/>
          <p:nvPr/>
        </p:nvSpPr>
        <p:spPr>
          <a:xfrm>
            <a:off x="7879080" y="4106962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924800" y="4143538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Essential safety/tolerability context</a:t>
            </a:r>
          </a:p>
        </p:txBody>
      </p:sp>
      <p:sp>
        <p:nvSpPr>
          <p:cNvPr id="37" name="Shape 37"/>
          <p:cNvSpPr/>
          <p:nvPr/>
        </p:nvSpPr>
        <p:spPr>
          <a:xfrm>
            <a:off x="685800" y="4740510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731520" y="4777086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Optional PRO</a:t>
            </a:r>
          </a:p>
        </p:txBody>
      </p:sp>
      <p:sp>
        <p:nvSpPr>
          <p:cNvPr id="39" name="Shape 39"/>
          <p:cNvSpPr/>
          <p:nvPr/>
        </p:nvSpPr>
        <p:spPr>
          <a:xfrm>
            <a:off x="4282440" y="4740510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4328160" y="4777086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DLQI response/change at prespecified timepoints</a:t>
            </a:r>
          </a:p>
        </p:txBody>
      </p:sp>
      <p:sp>
        <p:nvSpPr>
          <p:cNvPr id="41" name="Shape 41"/>
          <p:cNvSpPr/>
          <p:nvPr/>
        </p:nvSpPr>
        <p:spPr>
          <a:xfrm>
            <a:off x="7879080" y="4740510"/>
            <a:ext cx="3596640" cy="633548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924800" y="4777086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Only if patient-relevant or HTA/practice use is important</a:t>
            </a:r>
          </a:p>
        </p:txBody>
      </p:sp>
      <p:sp>
        <p:nvSpPr>
          <p:cNvPr id="43" name="Shape 43"/>
          <p:cNvSpPr/>
          <p:nvPr/>
        </p:nvSpPr>
        <p:spPr>
          <a:xfrm>
            <a:off x="685800" y="5374059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731520" y="5410635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Not default</a:t>
            </a:r>
          </a:p>
        </p:txBody>
      </p:sp>
      <p:sp>
        <p:nvSpPr>
          <p:cNvPr id="45" name="Shape 45"/>
          <p:cNvSpPr/>
          <p:nvPr/>
        </p:nvSpPr>
        <p:spPr>
          <a:xfrm>
            <a:off x="4282440" y="5374059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4328160" y="5410635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Broad biomarkers, PK/PD, large exploratory panels</a:t>
            </a:r>
          </a:p>
        </p:txBody>
      </p:sp>
      <p:sp>
        <p:nvSpPr>
          <p:cNvPr id="47" name="Shape 47"/>
          <p:cNvSpPr/>
          <p:nvPr/>
        </p:nvSpPr>
        <p:spPr>
          <a:xfrm>
            <a:off x="7879080" y="5374059"/>
            <a:ext cx="3596640" cy="633548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48" name="Text 48"/>
          <p:cNvSpPr txBox="1"/>
          <p:nvPr/>
        </p:nvSpPr>
        <p:spPr>
          <a:xfrm>
            <a:off x="7924800" y="5410635"/>
            <a:ext cx="3505200" cy="56039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Remove unless a specific objective requires them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Special assessments: what AI should include or reject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This is where PED requirements prevent the study from becoming a data-collection exercise.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572768"/>
            <a:ext cx="3596640" cy="739139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31520" y="160934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Assessment</a:t>
            </a:r>
          </a:p>
        </p:txBody>
      </p:sp>
      <p:sp>
        <p:nvSpPr>
          <p:cNvPr id="9" name="Shape 9"/>
          <p:cNvSpPr/>
          <p:nvPr/>
        </p:nvSpPr>
        <p:spPr>
          <a:xfrm>
            <a:off x="4282440" y="1572768"/>
            <a:ext cx="3596640" cy="739139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328160" y="160934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AI recommendation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7879080" y="1572768"/>
            <a:ext cx="3596640" cy="739139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924800" y="160934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Reason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2311908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31520" y="234848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PRO / COA</a:t>
            </a:r>
          </a:p>
        </p:txBody>
      </p:sp>
      <p:sp>
        <p:nvSpPr>
          <p:cNvPr id="15" name="Shape 15"/>
          <p:cNvSpPr/>
          <p:nvPr/>
        </p:nvSpPr>
        <p:spPr>
          <a:xfrm>
            <a:off x="4282440" y="2311908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328160" y="234848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Include one focused QoL instrument only if decision-critical</a:t>
            </a:r>
          </a:p>
        </p:txBody>
      </p:sp>
      <p:sp>
        <p:nvSpPr>
          <p:cNvPr id="17" name="Shape 17"/>
          <p:cNvSpPr/>
          <p:nvPr/>
        </p:nvSpPr>
        <p:spPr>
          <a:xfrm>
            <a:off x="7879080" y="2311908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924800" y="234848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DLQI can support patient-relevant and HTA/practice interpretation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3051048"/>
            <a:ext cx="3596640" cy="7391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31520" y="308762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PK / PD</a:t>
            </a:r>
          </a:p>
        </p:txBody>
      </p:sp>
      <p:sp>
        <p:nvSpPr>
          <p:cNvPr id="21" name="Shape 21"/>
          <p:cNvSpPr/>
          <p:nvPr/>
        </p:nvSpPr>
        <p:spPr>
          <a:xfrm>
            <a:off x="4282440" y="3051048"/>
            <a:ext cx="3596640" cy="7391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328160" y="308762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Do not include by default</a:t>
            </a:r>
          </a:p>
        </p:txBody>
      </p:sp>
      <p:sp>
        <p:nvSpPr>
          <p:cNvPr id="23" name="Shape 23"/>
          <p:cNvSpPr/>
          <p:nvPr/>
        </p:nvSpPr>
        <p:spPr>
          <a:xfrm>
            <a:off x="7879080" y="3051048"/>
            <a:ext cx="3596640" cy="7391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924800" y="308762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No dose, exposure-response, bridging, or special-population question stated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790187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731520" y="3826763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Biomarkers</a:t>
            </a:r>
          </a:p>
        </p:txBody>
      </p:sp>
      <p:sp>
        <p:nvSpPr>
          <p:cNvPr id="27" name="Shape 27"/>
          <p:cNvSpPr/>
          <p:nvPr/>
        </p:nvSpPr>
        <p:spPr>
          <a:xfrm>
            <a:off x="4282440" y="3790187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328160" y="3826763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Do not include broad exploratory biomarkers</a:t>
            </a:r>
          </a:p>
        </p:txBody>
      </p:sp>
      <p:sp>
        <p:nvSpPr>
          <p:cNvPr id="29" name="Shape 29"/>
          <p:cNvSpPr/>
          <p:nvPr/>
        </p:nvSpPr>
        <p:spPr>
          <a:xfrm>
            <a:off x="7879080" y="3790187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7924800" y="3826763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No biomarker-defined population or stratification need stated</a:t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4529328"/>
            <a:ext cx="3596640" cy="7391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31520" y="456590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Labs</a:t>
            </a:r>
          </a:p>
        </p:txBody>
      </p:sp>
      <p:sp>
        <p:nvSpPr>
          <p:cNvPr id="33" name="Shape 33"/>
          <p:cNvSpPr/>
          <p:nvPr/>
        </p:nvSpPr>
        <p:spPr>
          <a:xfrm>
            <a:off x="4282440" y="4529328"/>
            <a:ext cx="3596640" cy="7391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4328160" y="456590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Use standard safety labs at proportionate visits</a:t>
            </a:r>
          </a:p>
        </p:txBody>
      </p:sp>
      <p:sp>
        <p:nvSpPr>
          <p:cNvPr id="35" name="Shape 35"/>
          <p:cNvSpPr/>
          <p:nvPr/>
        </p:nvSpPr>
        <p:spPr>
          <a:xfrm>
            <a:off x="7879080" y="4529328"/>
            <a:ext cx="3596640" cy="739139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924800" y="4565904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Safety support; avoid listing excessive individual lab parameters</a:t>
            </a:r>
          </a:p>
        </p:txBody>
      </p:sp>
      <p:sp>
        <p:nvSpPr>
          <p:cNvPr id="37" name="Shape 37"/>
          <p:cNvSpPr/>
          <p:nvPr/>
        </p:nvSpPr>
        <p:spPr>
          <a:xfrm>
            <a:off x="685800" y="5268467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731520" y="5305043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Imaging</a:t>
            </a:r>
          </a:p>
        </p:txBody>
      </p:sp>
      <p:sp>
        <p:nvSpPr>
          <p:cNvPr id="39" name="Shape 39"/>
          <p:cNvSpPr/>
          <p:nvPr/>
        </p:nvSpPr>
        <p:spPr>
          <a:xfrm>
            <a:off x="4282440" y="5268467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4328160" y="5305043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Not relevant for psoriasis skin-clearance endpoints</a:t>
            </a:r>
          </a:p>
        </p:txBody>
      </p:sp>
      <p:sp>
        <p:nvSpPr>
          <p:cNvPr id="41" name="Shape 41"/>
          <p:cNvSpPr/>
          <p:nvPr/>
        </p:nvSpPr>
        <p:spPr>
          <a:xfrm>
            <a:off x="7879080" y="5268467"/>
            <a:ext cx="3596640" cy="739139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924800" y="5305043"/>
            <a:ext cx="3505200" cy="66598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Would be flagged as non-value-added burden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Example SoA logic under PED guardrails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AI should generate a schedule that can be understood quickly and defended operationally.</a:t>
            </a:r>
          </a:p>
        </p:txBody>
      </p:sp>
      <p:sp>
        <p:nvSpPr>
          <p:cNvPr id="7" name="Shape 7"/>
          <p:cNvSpPr/>
          <p:nvPr/>
        </p:nvSpPr>
        <p:spPr>
          <a:xfrm>
            <a:off x="731520" y="1554480"/>
            <a:ext cx="2377440" cy="105156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960120" y="18288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D71920"/>
                </a:solidFill>
                <a:latin typeface="Aptos"/>
              </a:rPr>
              <a:t>Screening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960120" y="22402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≤28 days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3291840" y="2084831"/>
            <a:ext cx="777240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4251960" y="1554480"/>
            <a:ext cx="237744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4480560" y="182880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Baseline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480560" y="2240280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Day 1</a:t>
            </a:r>
          </a:p>
        </p:txBody>
      </p:sp>
      <p:cxnSp>
        <p:nvCxnSpPr>
          <p:cNvPr id="14" name="Connector 14"/>
          <p:cNvCxnSpPr/>
          <p:nvPr/>
        </p:nvCxnSpPr>
        <p:spPr>
          <a:xfrm flipH="0" flipV="0">
            <a:off x="6812280" y="2084831"/>
            <a:ext cx="777240" cy="0"/>
          </a:xfrm>
          <a:prstGeom prst="line">
            <a:avLst/>
          </a:prstGeom>
          <a:ln w="20320">
            <a:solidFill>
              <a:srgbClr val="8A1538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7772400" y="1554480"/>
            <a:ext cx="2971800" cy="1051560"/>
          </a:xfrm>
          <a:prstGeom prst="roundRect">
            <a:avLst/>
          </a:prstGeom>
          <a:solidFill>
            <a:srgbClr val="E7F5FF"/>
          </a:solidFill>
          <a:ln w="15240">
            <a:solidFill>
              <a:srgbClr val="1864A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8028431" y="182880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1864AB"/>
                </a:solidFill>
                <a:latin typeface="Aptos"/>
              </a:rPr>
              <a:t>Primary readout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028431" y="224028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Week 16 PASI 90</a:t>
            </a:r>
          </a:p>
        </p:txBody>
      </p:sp>
      <p:sp>
        <p:nvSpPr>
          <p:cNvPr id="18" name="Shape 18"/>
          <p:cNvSpPr/>
          <p:nvPr/>
        </p:nvSpPr>
        <p:spPr>
          <a:xfrm>
            <a:off x="1188720" y="3657600"/>
            <a:ext cx="274320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1417320" y="389534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242424"/>
                </a:solidFill>
                <a:latin typeface="Aptos"/>
              </a:rPr>
              <a:t>Follow-up cadence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417320" y="431596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Weeks 28, 40, 52</a:t>
            </a:r>
          </a:p>
        </p:txBody>
      </p:sp>
      <p:cxnSp>
        <p:nvCxnSpPr>
          <p:cNvPr id="21" name="Connector 21"/>
          <p:cNvCxnSpPr/>
          <p:nvPr/>
        </p:nvCxnSpPr>
        <p:spPr>
          <a:xfrm flipH="0" flipV="0">
            <a:off x="4160520" y="4187952"/>
            <a:ext cx="731520" cy="0"/>
          </a:xfrm>
          <a:prstGeom prst="line">
            <a:avLst/>
          </a:prstGeom>
          <a:ln w="20320">
            <a:solidFill>
              <a:srgbClr val="475569"/>
            </a:solidFill>
            <a:headEnd type="triangle"/>
          </a:ln>
        </p:spPr>
      </p:cxnSp>
      <p:sp>
        <p:nvSpPr>
          <p:cNvPr id="22" name="Shape 22"/>
          <p:cNvSpPr/>
          <p:nvPr/>
        </p:nvSpPr>
        <p:spPr>
          <a:xfrm>
            <a:off x="5074920" y="3657600"/>
            <a:ext cx="2743200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5303520" y="389534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242424"/>
                </a:solidFill>
                <a:latin typeface="Aptos"/>
              </a:rPr>
              <a:t>Safety / tolerability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5303520" y="431596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Proportionate checks</a:t>
            </a:r>
          </a:p>
        </p:txBody>
      </p:sp>
      <p:cxnSp>
        <p:nvCxnSpPr>
          <p:cNvPr id="25" name="Connector 25"/>
          <p:cNvCxnSpPr/>
          <p:nvPr/>
        </p:nvCxnSpPr>
        <p:spPr>
          <a:xfrm flipH="0" flipV="0">
            <a:off x="8046720" y="4187952"/>
            <a:ext cx="731520" cy="0"/>
          </a:xfrm>
          <a:prstGeom prst="line">
            <a:avLst/>
          </a:prstGeom>
          <a:ln w="20320">
            <a:solidFill>
              <a:srgbClr val="475569"/>
            </a:solidFill>
            <a:headEnd type="triangle"/>
          </a:ln>
        </p:spPr>
      </p:cxnSp>
      <p:sp>
        <p:nvSpPr>
          <p:cNvPr id="26" name="Shape 26"/>
          <p:cNvSpPr/>
          <p:nvPr/>
        </p:nvSpPr>
        <p:spPr>
          <a:xfrm>
            <a:off x="8961120" y="3657600"/>
            <a:ext cx="2148840" cy="1051560"/>
          </a:xfrm>
          <a:prstGeom prst="roundRect">
            <a:avLst/>
          </a:prstGeom>
          <a:solidFill>
            <a:srgbClr val="FFF7F7"/>
          </a:solidFill>
          <a:ln w="15240">
            <a:solidFill>
              <a:srgbClr val="8A1538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9144000" y="3895344"/>
            <a:ext cx="178308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8A1538"/>
                </a:solidFill>
                <a:latin typeface="Aptos"/>
              </a:rPr>
              <a:t>30-day FU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9144000" y="4315968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100" b="0">
                <a:solidFill>
                  <a:srgbClr val="475569"/>
                </a:solidFill>
                <a:latin typeface="Aptos"/>
              </a:rPr>
              <a:t>Safety closeout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868680" y="557784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500" b="1">
                <a:solidFill>
                  <a:srgbClr val="8A1538"/>
                </a:solidFill>
                <a:latin typeface="Aptos"/>
              </a:rPr>
              <a:t>SoA principle: avoid adding PK/PD, broad biomarkers, or dense visit schedules unless the objective or safety question requires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Impact assessment output for the example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app should give immediate feedback so the user can iterate before downstream drafting.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572768"/>
            <a:ext cx="3596640" cy="693420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31520" y="160934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Impact domain</a:t>
            </a:r>
          </a:p>
        </p:txBody>
      </p:sp>
      <p:sp>
        <p:nvSpPr>
          <p:cNvPr id="9" name="Shape 9"/>
          <p:cNvSpPr/>
          <p:nvPr/>
        </p:nvSpPr>
        <p:spPr>
          <a:xfrm>
            <a:off x="4282440" y="1572768"/>
            <a:ext cx="3596640" cy="693420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4328160" y="160934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Likely signal</a:t>
            </a:r>
          </a:p>
        </p:txBody>
      </p:sp>
      <p:sp>
        <p:nvSpPr>
          <p:cNvPr id="11" name="Shape 11"/>
          <p:cNvSpPr/>
          <p:nvPr/>
        </p:nvSpPr>
        <p:spPr>
          <a:xfrm>
            <a:off x="7879080" y="1572768"/>
            <a:ext cx="3596640" cy="693420"/>
          </a:xfrm>
          <a:prstGeom prst="rect">
            <a:avLst/>
          </a:prstGeom>
          <a:solidFill>
            <a:srgbClr val="FDECE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924800" y="160934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D71920"/>
                </a:solidFill>
                <a:latin typeface="Aptos"/>
              </a:rPr>
              <a:t>What would strengthen it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226618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31520" y="230276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Practice / guideline</a:t>
            </a:r>
          </a:p>
        </p:txBody>
      </p:sp>
      <p:sp>
        <p:nvSpPr>
          <p:cNvPr id="15" name="Shape 15"/>
          <p:cNvSpPr/>
          <p:nvPr/>
        </p:nvSpPr>
        <p:spPr>
          <a:xfrm>
            <a:off x="4282440" y="226618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328160" y="230276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Moderate</a:t>
            </a:r>
          </a:p>
        </p:txBody>
      </p:sp>
      <p:sp>
        <p:nvSpPr>
          <p:cNvPr id="17" name="Shape 17"/>
          <p:cNvSpPr/>
          <p:nvPr/>
        </p:nvSpPr>
        <p:spPr>
          <a:xfrm>
            <a:off x="7879080" y="226618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924800" y="230276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Comparator credibility, clinical endpoint relevance, durability through Week 52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2959607"/>
            <a:ext cx="3596640" cy="6934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31520" y="2996183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HTA / access</a:t>
            </a:r>
          </a:p>
        </p:txBody>
      </p:sp>
      <p:sp>
        <p:nvSpPr>
          <p:cNvPr id="21" name="Shape 21"/>
          <p:cNvSpPr/>
          <p:nvPr/>
        </p:nvSpPr>
        <p:spPr>
          <a:xfrm>
            <a:off x="4282440" y="2959607"/>
            <a:ext cx="3596640" cy="6934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4328160" y="2996183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Moderate to high</a:t>
            </a:r>
          </a:p>
        </p:txBody>
      </p:sp>
      <p:sp>
        <p:nvSpPr>
          <p:cNvPr id="23" name="Shape 23"/>
          <p:cNvSpPr/>
          <p:nvPr/>
        </p:nvSpPr>
        <p:spPr>
          <a:xfrm>
            <a:off x="7879080" y="2959607"/>
            <a:ext cx="3596640" cy="6934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7924800" y="2996183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Add one patient-relevant QoL endpoint and clear comparative effect assumptions</a:t>
            </a:r>
          </a:p>
        </p:txBody>
      </p:sp>
      <p:sp>
        <p:nvSpPr>
          <p:cNvPr id="25" name="Shape 25"/>
          <p:cNvSpPr/>
          <p:nvPr/>
        </p:nvSpPr>
        <p:spPr>
          <a:xfrm>
            <a:off x="685800" y="365302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731520" y="368960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Publication</a:t>
            </a:r>
          </a:p>
        </p:txBody>
      </p:sp>
      <p:sp>
        <p:nvSpPr>
          <p:cNvPr id="27" name="Shape 27"/>
          <p:cNvSpPr/>
          <p:nvPr/>
        </p:nvSpPr>
        <p:spPr>
          <a:xfrm>
            <a:off x="4282440" y="365302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28" name="Text 28"/>
          <p:cNvSpPr txBox="1"/>
          <p:nvPr/>
        </p:nvSpPr>
        <p:spPr>
          <a:xfrm>
            <a:off x="4328160" y="368960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High</a:t>
            </a:r>
          </a:p>
        </p:txBody>
      </p:sp>
      <p:sp>
        <p:nvSpPr>
          <p:cNvPr id="29" name="Shape 29"/>
          <p:cNvSpPr/>
          <p:nvPr/>
        </p:nvSpPr>
        <p:spPr>
          <a:xfrm>
            <a:off x="7879080" y="365302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0" name="Text 30"/>
          <p:cNvSpPr txBox="1"/>
          <p:nvPr/>
        </p:nvSpPr>
        <p:spPr>
          <a:xfrm>
            <a:off x="7924800" y="368960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Focused comparative question and clinically meaningful endpoints</a:t>
            </a:r>
          </a:p>
        </p:txBody>
      </p:sp>
      <p:sp>
        <p:nvSpPr>
          <p:cNvPr id="31" name="Shape 31"/>
          <p:cNvSpPr/>
          <p:nvPr/>
        </p:nvSpPr>
        <p:spPr>
          <a:xfrm>
            <a:off x="685800" y="4346448"/>
            <a:ext cx="3596640" cy="6934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731520" y="438302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Label</a:t>
            </a:r>
          </a:p>
        </p:txBody>
      </p:sp>
      <p:sp>
        <p:nvSpPr>
          <p:cNvPr id="33" name="Shape 33"/>
          <p:cNvSpPr/>
          <p:nvPr/>
        </p:nvSpPr>
        <p:spPr>
          <a:xfrm>
            <a:off x="4282440" y="4346448"/>
            <a:ext cx="3596640" cy="6934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4328160" y="438302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Low to moderate</a:t>
            </a:r>
          </a:p>
        </p:txBody>
      </p:sp>
      <p:sp>
        <p:nvSpPr>
          <p:cNvPr id="35" name="Shape 35"/>
          <p:cNvSpPr/>
          <p:nvPr/>
        </p:nvSpPr>
        <p:spPr>
          <a:xfrm>
            <a:off x="7879080" y="4346448"/>
            <a:ext cx="3596640" cy="693420"/>
          </a:xfrm>
          <a:prstGeom prst="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924800" y="438302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Depends on regulatory context; practice-informing PED is not automatically label-changing</a:t>
            </a:r>
          </a:p>
        </p:txBody>
      </p:sp>
      <p:sp>
        <p:nvSpPr>
          <p:cNvPr id="37" name="Shape 37"/>
          <p:cNvSpPr/>
          <p:nvPr/>
        </p:nvSpPr>
        <p:spPr>
          <a:xfrm>
            <a:off x="685800" y="503986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38" name="Text 38"/>
          <p:cNvSpPr txBox="1"/>
          <p:nvPr/>
        </p:nvSpPr>
        <p:spPr>
          <a:xfrm>
            <a:off x="731520" y="507644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1">
                <a:solidFill>
                  <a:srgbClr val="242424"/>
                </a:solidFill>
                <a:latin typeface="Aptos"/>
              </a:rPr>
              <a:t>Safety/risk</a:t>
            </a:r>
          </a:p>
        </p:txBody>
      </p:sp>
      <p:sp>
        <p:nvSpPr>
          <p:cNvPr id="39" name="Shape 39"/>
          <p:cNvSpPr/>
          <p:nvPr/>
        </p:nvSpPr>
        <p:spPr>
          <a:xfrm>
            <a:off x="4282440" y="503986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0" name="Text 40"/>
          <p:cNvSpPr txBox="1"/>
          <p:nvPr/>
        </p:nvSpPr>
        <p:spPr>
          <a:xfrm>
            <a:off x="4328160" y="507644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000" b="0">
                <a:solidFill>
                  <a:srgbClr val="242424"/>
                </a:solidFill>
                <a:latin typeface="Aptos"/>
              </a:rPr>
              <a:t>Supportive</a:t>
            </a:r>
          </a:p>
        </p:txBody>
      </p:sp>
      <p:sp>
        <p:nvSpPr>
          <p:cNvPr id="41" name="Shape 41"/>
          <p:cNvSpPr/>
          <p:nvPr/>
        </p:nvSpPr>
        <p:spPr>
          <a:xfrm>
            <a:off x="7879080" y="5039868"/>
            <a:ext cx="3596640" cy="693420"/>
          </a:xfrm>
          <a:prstGeom prst="rect">
            <a:avLst/>
          </a:prstGeom>
          <a:solidFill>
            <a:srgbClr val="FFFFFF"/>
          </a:solidFill>
          <a:ln w="15240">
            <a:solidFill>
              <a:srgbClr val="E5E7EB"/>
            </a:solidFill>
          </a:ln>
        </p:spPr>
      </p:sp>
      <p:sp>
        <p:nvSpPr>
          <p:cNvPr id="42" name="Text 42"/>
          <p:cNvSpPr txBox="1"/>
          <p:nvPr/>
        </p:nvSpPr>
        <p:spPr>
          <a:xfrm>
            <a:off x="7924800" y="5076444"/>
            <a:ext cx="3505200" cy="62026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0">
                <a:solidFill>
                  <a:srgbClr val="242424"/>
                </a:solidFill>
                <a:latin typeface="Aptos"/>
              </a:rPr>
              <a:t>Keep standard safety capture proportionate and interpretable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868680" y="5897880"/>
            <a:ext cx="10378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300" b="1">
                <a:solidFill>
                  <a:srgbClr val="8A1538"/>
                </a:solidFill>
                <a:latin typeface="Aptos"/>
              </a:rPr>
              <a:t>AI should not overstate label or guideline impact; it should recommend concrete design improvements instead.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71920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02920" y="2926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900" b="1">
                <a:solidFill>
                  <a:srgbClr val="D71920"/>
                </a:solidFill>
                <a:latin typeface="Aptos"/>
              </a:rPr>
              <a:t>STUDY SYNOPSIS STUDIO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02920" y="621792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2400" b="0">
                <a:solidFill>
                  <a:srgbClr val="242424"/>
                </a:solidFill>
                <a:latin typeface="Aptos"/>
              </a:rPr>
              <a:t>What the user sees and controls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530352" y="1124712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en-US" sz="1200" b="0">
                <a:solidFill>
                  <a:srgbClr val="475569"/>
                </a:solidFill>
                <a:latin typeface="Aptos"/>
              </a:rPr>
              <a:t>The final workflow stays simple: AI proposes, user selects, guardrails explain what may need tightening.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600200"/>
            <a:ext cx="2011680" cy="2240280"/>
          </a:xfrm>
          <a:prstGeom prst="roundRect">
            <a:avLst/>
          </a:prstGeom>
          <a:solidFill>
            <a:srgbClr val="FDECEC"/>
          </a:solidFill>
          <a:ln w="15240">
            <a:solidFill>
              <a:srgbClr val="D71920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832104" y="18288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D71920"/>
                </a:solidFill>
                <a:latin typeface="Aptos"/>
              </a:rPr>
              <a:t>User intent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832104" y="2377440"/>
            <a:ext cx="171907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Selects primary aim and study type</a:t>
            </a:r>
          </a:p>
        </p:txBody>
      </p:sp>
      <p:cxnSp>
        <p:nvCxnSpPr>
          <p:cNvPr id="10" name="Connector 10"/>
          <p:cNvCxnSpPr/>
          <p:nvPr/>
        </p:nvCxnSpPr>
        <p:spPr>
          <a:xfrm flipH="0" flipV="0">
            <a:off x="2724912" y="2715768"/>
            <a:ext cx="192024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1" name="Shape 11"/>
          <p:cNvSpPr/>
          <p:nvPr/>
        </p:nvSpPr>
        <p:spPr>
          <a:xfrm>
            <a:off x="2926080" y="1600200"/>
            <a:ext cx="201168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072384" y="18288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Guardrails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3072384" y="2377440"/>
            <a:ext cx="171907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Auto-suggested but overridable</a:t>
            </a:r>
          </a:p>
        </p:txBody>
      </p:sp>
      <p:cxnSp>
        <p:nvCxnSpPr>
          <p:cNvPr id="14" name="Connector 14"/>
          <p:cNvCxnSpPr/>
          <p:nvPr/>
        </p:nvCxnSpPr>
        <p:spPr>
          <a:xfrm flipH="0" flipV="0">
            <a:off x="4965192" y="2715768"/>
            <a:ext cx="192024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5" name="Shape 15"/>
          <p:cNvSpPr/>
          <p:nvPr/>
        </p:nvSpPr>
        <p:spPr>
          <a:xfrm>
            <a:off x="5166360" y="1600200"/>
            <a:ext cx="201168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5312664" y="18288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AI proposal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312664" y="2377440"/>
            <a:ext cx="171907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3 alternatives + alignment status</a:t>
            </a:r>
          </a:p>
        </p:txBody>
      </p:sp>
      <p:cxnSp>
        <p:nvCxnSpPr>
          <p:cNvPr id="18" name="Connector 18"/>
          <p:cNvCxnSpPr/>
          <p:nvPr/>
        </p:nvCxnSpPr>
        <p:spPr>
          <a:xfrm flipH="0" flipV="0">
            <a:off x="7205472" y="2715768"/>
            <a:ext cx="192024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19" name="Shape 19"/>
          <p:cNvSpPr/>
          <p:nvPr/>
        </p:nvSpPr>
        <p:spPr>
          <a:xfrm>
            <a:off x="7406640" y="1600200"/>
            <a:ext cx="201168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7552944" y="18288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Selective apply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552944" y="2377440"/>
            <a:ext cx="171907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Accept only chosen objectives/endpoints</a:t>
            </a:r>
          </a:p>
        </p:txBody>
      </p:sp>
      <p:cxnSp>
        <p:nvCxnSpPr>
          <p:cNvPr id="22" name="Connector 22"/>
          <p:cNvCxnSpPr/>
          <p:nvPr/>
        </p:nvCxnSpPr>
        <p:spPr>
          <a:xfrm flipH="0" flipV="0">
            <a:off x="9445752" y="2715768"/>
            <a:ext cx="192024" cy="0"/>
          </a:xfrm>
          <a:prstGeom prst="line">
            <a:avLst/>
          </a:prstGeom>
          <a:ln w="15240">
            <a:solidFill>
              <a:srgbClr val="8A1538"/>
            </a:solidFill>
            <a:headEnd type="triangle"/>
          </a:ln>
        </p:spPr>
      </p:cxnSp>
      <p:sp>
        <p:nvSpPr>
          <p:cNvPr id="23" name="Shape 23"/>
          <p:cNvSpPr/>
          <p:nvPr/>
        </p:nvSpPr>
        <p:spPr>
          <a:xfrm>
            <a:off x="9646920" y="1600200"/>
            <a:ext cx="201168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5E7EB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9793224" y="18288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400" b="1">
                <a:solidFill>
                  <a:srgbClr val="242424"/>
                </a:solidFill>
                <a:latin typeface="Aptos"/>
              </a:rPr>
              <a:t>Impact check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9793224" y="2377440"/>
            <a:ext cx="1719072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000" b="0">
                <a:solidFill>
                  <a:srgbClr val="475569"/>
                </a:solidFill>
                <a:latin typeface="Aptos"/>
              </a:rPr>
              <a:t>Scores likely use and flags blockers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22960" y="530352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700" b="1">
                <a:solidFill>
                  <a:srgbClr val="242424"/>
                </a:solidFill>
                <a:latin typeface="Aptos"/>
              </a:rPr>
              <a:t>Key behavior: if the user asks for something inconsistent with the intent or PED discipline, AI should push back and propose a safer aligned option rather than blindly comply.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Synopsis">
  <a:themeElements>
    <a:clrScheme name="Custom">
      <a:dk1>
        <a:srgbClr val="242424"/>
      </a:dk1>
      <a:lt1>
        <a:srgbClr val="FFFFFF"/>
      </a:lt1>
      <a:dk2>
        <a:srgbClr val="475569"/>
      </a:dk2>
      <a:lt2>
        <a:srgbClr val="F8FAFC"/>
      </a:lt2>
      <a:accent1>
        <a:srgbClr val="D71920"/>
      </a:accent1>
      <a:accent2>
        <a:srgbClr val="1864AB"/>
      </a:accent2>
      <a:accent3>
        <a:srgbClr val="8A1538"/>
      </a:accent3>
      <a:accent4>
        <a:srgbClr val="E5E7EB"/>
      </a:accent4>
      <a:accent5>
        <a:srgbClr val="FDECEC"/>
      </a:accent5>
      <a:accent6>
        <a:srgbClr val="E7F5FF"/>
      </a:accent6>
      <a:hlink>
        <a:srgbClr val="1864AB"/>
      </a:hlink>
      <a:folHlink>
        <a:srgbClr val="8A1538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 Synopsis Studio logic</dc:title>
  <dc:creator>Codex</dc:creator>
  <cp:lastModifiedBy>Codex</cp:lastModifiedBy>
  <dcterms:created xsi:type="dcterms:W3CDTF">2026-04-28T13:38:24.902131+00:00</dcterms:created>
  <dcterms:modified xsi:type="dcterms:W3CDTF">2026-04-28T13:38:24.902131+00:00</dcterms:modified>
</cp:coreProperties>
</file>